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713781" y="196724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pt-BR"/>
              <a:t>Administração Financeira</a:t>
            </a:r>
            <a:endParaRPr/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115617" y="3861048"/>
            <a:ext cx="7370564" cy="1977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Marcelo Perlin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r>
              <a:rPr lang="pt-BR" sz="3100"/>
              <a:t>Conta Caixa (parte 2) - Ross (Cap 18) e Assaf Net (Cap 4)</a:t>
            </a:r>
            <a:endParaRPr sz="31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Escola de Administração, UFRGS</a:t>
            </a:r>
            <a:endParaRPr/>
          </a:p>
        </p:txBody>
      </p:sp>
      <p:pic>
        <p:nvPicPr>
          <p:cNvPr descr="C:\Dropbox\E.A. UFRGS\Docs Diversos UFRGS\Modelos Slides E.A\Logo_UFRGS_preto.jpg"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25" y="164733"/>
            <a:ext cx="1495847" cy="1542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Dropbox\E.A. UFRGS\Docs Diversos UFRGS\Modelos Slides E.A\LOGO_EA.jpg" id="91" name="Google Shape;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2324" y="93600"/>
            <a:ext cx="1495850" cy="173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pt-BR" sz="4000"/>
              <a:t>Plano de Aula</a:t>
            </a:r>
            <a:endParaRPr sz="4000"/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518864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A administração do Caixa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Determinação do saldo de caixa</a:t>
            </a:r>
            <a:endParaRPr/>
          </a:p>
          <a:p>
            <a:pPr indent="-19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Determinação do Nível de Caixa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628650" y="1690689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Revisando: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Políticas flexíveis e restritas de administração do AC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Flexível = valor alto em AC, financiado por capital de longo prazo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Restritiva = valor baixo em AC, financiado por capital de curto prazo (dívidas)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Montante ótimo no AC vai ser o ponto que minimiza os custos de carregamento e de falta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O caixa é o ativo mais líquido da empresa e por isso pode ser entendido como um caso especial na administração do AC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Incerteza dos fluxos de caixa, tanto no recebimento quanto no pagamento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Possibilidade de investimento e tomada de empréstimo do capital</a:t>
            </a:r>
            <a:endParaRPr sz="2000"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Sazonalidade das entradas e saídas de caixa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Ilustração do ponto ótimo de Caixa</a:t>
            </a:r>
            <a:endParaRPr/>
          </a:p>
        </p:txBody>
      </p:sp>
      <p:pic>
        <p:nvPicPr>
          <p:cNvPr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576" y="1690689"/>
            <a:ext cx="7112137" cy="4116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Modelos propostos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Modelo de Caixa Mínimo Operacional (Assaf Neto cap. 4, pag. 88)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Modelo de Baumol (1952)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Modelo de Miller-Orr (1966)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Modelo do dia de semana (Assaf Neto cap. 4, pag. 97)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Modelo de Caixa Mínimo Operacional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Utiliza o desembolso total previsto no período e o ciclo de caixa para determinar o valor mínimo de caixa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O ciclo de caixa define o período compreendido entre o pagamento da compra de matéria prima até o momento do recebimento das vendas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Um alto giro do caixa define que a empresa tem maior capacidade de gerar recursos, o que diminui o valor mínimo a ser mantido em caixa</a:t>
            </a:r>
            <a:endParaRPr/>
          </a:p>
        </p:txBody>
      </p:sp>
      <p:pic>
        <p:nvPicPr>
          <p:cNvPr id="122" name="Google Shape;1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4149080"/>
            <a:ext cx="5105400" cy="1701800"/>
          </a:xfrm>
          <a:prstGeom prst="rect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467544" y="2060848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Uma empresa possui ciclo operacional de 100 dias e prazo médio de pagamento de fornecedores de 20 dias. Assumindo um desembolso previsto de 100.000 R$ ao ano, qual o montante mínimo a ser deixado na conta caixa? (assuma um ano com 360 dias)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698" y="3933056"/>
            <a:ext cx="7540625" cy="176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Críticas ao Modelo de Caixa Mínimo Operacional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Baseado em fortes premissas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Fluxos são conhecidos</a:t>
            </a:r>
            <a:endParaRPr/>
          </a:p>
          <a:p>
            <a:pPr indent="-571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O modelo não assume sazonalidades nos fluxos de caixa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O método não define o montante máximo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A abordagem tem enfoque flexível (mais $ em caixa)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Modelo de Baumol (1952)</a:t>
            </a:r>
            <a:endParaRPr/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Análise específica dos custos e benefícios de manter caixa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Permite definir matematicamente o montante máximo a ser deixado em caixa com base em uma fórmula intuitiva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Elementos: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Custo fixo de conversão de caixa  (custo do pedido)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Custo de oportunidade (investimento em títulos de renda fixa)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Demanda de caixa (determinada pela demanda total do período e assumida fixa para cada intervalo)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pt-BR"/>
              <a:t>A empresa SEMPRE gasta o mesmo valor para cada período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Exemplo Gráfico - Modelo de Baumol</a:t>
            </a:r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00" y="2276872"/>
            <a:ext cx="6480720" cy="3895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Formalização das Ideias</a:t>
            </a:r>
            <a:endParaRPr/>
          </a:p>
        </p:txBody>
      </p:sp>
      <p:pic>
        <p:nvPicPr>
          <p:cNvPr id="153" name="Google Shape;15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399" y="2132856"/>
            <a:ext cx="8585201" cy="3903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395536" y="764704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Solução Baumol</a:t>
            </a:r>
            <a:endParaRPr/>
          </a:p>
        </p:txBody>
      </p:sp>
      <p:pic>
        <p:nvPicPr>
          <p:cNvPr id="159" name="Google Shape;1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1988840"/>
            <a:ext cx="5400600" cy="4510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Exemplo Baumol</a:t>
            </a:r>
            <a:endParaRPr/>
          </a:p>
        </p:txBody>
      </p:sp>
      <p:sp>
        <p:nvSpPr>
          <p:cNvPr id="165" name="Google Shape;165;p2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Uma empresa precisará de 30.000 R$ ao longo de um mês. Considerando um custo de conversão de capital em 5 R$, e uma taxa de oportunidade de 0.6% ao mês, qual o montante máximo a ser mantido em caixa?</a:t>
            </a:r>
            <a:endParaRPr/>
          </a:p>
        </p:txBody>
      </p:sp>
      <p:pic>
        <p:nvPicPr>
          <p:cNvPr id="166" name="Google Shape;16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00" y="3789040"/>
            <a:ext cx="5495925" cy="166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Exemplo Baumol	</a:t>
            </a:r>
            <a:endParaRPr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Vai Excel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Exemplo Baumol (usando dados dos Alunos)</a:t>
            </a:r>
            <a:endParaRPr/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Vai Excel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Críticas ao Modelo de Baumol</a:t>
            </a:r>
            <a:endParaRPr/>
          </a:p>
        </p:txBody>
      </p:sp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Fluxos de caixa conhecidos e iguais para cada período?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A empresa sempre gasta o mesmo valor a cada intervalo?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Falta de saldo de segurança (ou saldo mínimo)?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Porém facilmente adaptável ao modelo arbitrariamente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Modelo de Miller Orr (1966)</a:t>
            </a:r>
            <a:endParaRPr/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Principal contribuição: Assume que os fluxos de caixa futuros (receitas e despesas) são desconhecidos (aleatórios)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Mas distribuição é conhecida e segue </a:t>
            </a:r>
            <a:r>
              <a:rPr b="1" lang="pt-BR"/>
              <a:t>Normal/Gaussiana</a:t>
            </a:r>
            <a:endParaRPr b="1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Utiliza as ferramentas da estatística para resolver o problema de alocação de capital no caixa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Determinação de saldos </a:t>
            </a:r>
            <a:r>
              <a:rPr b="1" lang="pt-BR"/>
              <a:t>médio</a:t>
            </a:r>
            <a:r>
              <a:rPr lang="pt-BR"/>
              <a:t>, </a:t>
            </a:r>
            <a:r>
              <a:rPr b="1" lang="pt-BR"/>
              <a:t>mínimo</a:t>
            </a:r>
            <a:r>
              <a:rPr lang="pt-BR"/>
              <a:t> e </a:t>
            </a:r>
            <a:r>
              <a:rPr b="1" lang="pt-BR"/>
              <a:t>máximo</a:t>
            </a:r>
            <a:endParaRPr b="1"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Saldo de caixa flutua entre esses intervalos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395536" y="692696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Exemplo Miller Orr</a:t>
            </a:r>
            <a:endParaRPr/>
          </a:p>
        </p:txBody>
      </p:sp>
      <p:pic>
        <p:nvPicPr>
          <p:cNvPr id="196" name="Google Shape;19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4" y="1628800"/>
            <a:ext cx="7560840" cy="4997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Equação Miller-Orr</a:t>
            </a:r>
            <a:endParaRPr/>
          </a:p>
        </p:txBody>
      </p:sp>
      <p:pic>
        <p:nvPicPr>
          <p:cNvPr id="202" name="Google Shape;20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2204864"/>
            <a:ext cx="6362700" cy="447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208" name="Google Shape;208;p3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Vai Excel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Críticas Modelo Miller-Orr</a:t>
            </a:r>
            <a:endParaRPr/>
          </a:p>
        </p:txBody>
      </p:sp>
      <p:sp>
        <p:nvSpPr>
          <p:cNvPr id="214" name="Google Shape;214;p3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Distribuições Normais?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Assumir a distribuição Gaussiana sem testar a aderência da mesma é no mínimo complicado!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Um erro no uso da distribuição pode acarretar riscos não contabilizados (erro de modelagem)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Custos de liquidez na conversão de capital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Maiores montantes </a:t>
            </a:r>
            <a:r>
              <a:rPr lang="pt-BR"/>
              <a:t>têm</a:t>
            </a:r>
            <a:r>
              <a:rPr lang="pt-BR"/>
              <a:t> benefícios em termos de taxa de juros (ex: CDB pós fixado)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Modelo do dia da semana (sazonalidade)</a:t>
            </a:r>
            <a:endParaRPr/>
          </a:p>
        </p:txBody>
      </p:sp>
      <p:sp>
        <p:nvSpPr>
          <p:cNvPr id="220" name="Google Shape;220;p3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arenR"/>
            </a:pPr>
            <a:r>
              <a:rPr lang="pt-BR"/>
              <a:t>Incorpora a existência de sazonalidades nos fluxos de caixa da empresa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arenR"/>
            </a:pPr>
            <a:r>
              <a:rPr lang="pt-BR"/>
              <a:t>Ex: Um restaurante possivelmente tem maior gasto com estoque perto do final de semana e maior entrada de dinheiro no final de semana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arenR"/>
            </a:pPr>
            <a:r>
              <a:rPr lang="pt-BR"/>
              <a:t>Ideia do método: Com base em dados históricos construir previsões  diárias dos fluxos de caixa da empresa, incorporando mais de uma sazonalidade (ex: sazonalidade do dia da semana e sazonalidade do dia do mês)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arenR"/>
            </a:pPr>
            <a:r>
              <a:rPr lang="pt-BR"/>
              <a:t>Passos: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arenR"/>
            </a:pPr>
            <a:r>
              <a:rPr lang="pt-BR"/>
              <a:t>Verificar a % dos fluxos de caixa para cada dia da semana e contabilizar seus desvios da média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arenR"/>
            </a:pPr>
            <a:r>
              <a:rPr lang="pt-BR"/>
              <a:t>Verificar historicamente a % dos fluxos de caixa para cada dia do mês e “ajustar” o FC projetado com o uso dos desvios calculados anteriormente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Passo 1 – Modelo do dia da semana</a:t>
            </a:r>
            <a:endParaRPr/>
          </a:p>
        </p:txBody>
      </p:sp>
      <p:sp>
        <p:nvSpPr>
          <p:cNvPr id="226" name="Google Shape;226;p3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227" name="Google Shape;22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726" y="1843901"/>
            <a:ext cx="8208548" cy="2520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Passo 2 – Modelo do dia da semana</a:t>
            </a:r>
            <a:endParaRPr/>
          </a:p>
        </p:txBody>
      </p:sp>
      <p:pic>
        <p:nvPicPr>
          <p:cNvPr id="233" name="Google Shape;23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640" y="1556792"/>
            <a:ext cx="5976664" cy="4747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1825" y="1519425"/>
            <a:ext cx="6077175" cy="4821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Quadro comparativo das Técnicas</a:t>
            </a:r>
            <a:endParaRPr/>
          </a:p>
        </p:txBody>
      </p:sp>
      <p:pic>
        <p:nvPicPr>
          <p:cNvPr id="240" name="Google Shape;24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576" y="1692961"/>
            <a:ext cx="7992888" cy="4690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