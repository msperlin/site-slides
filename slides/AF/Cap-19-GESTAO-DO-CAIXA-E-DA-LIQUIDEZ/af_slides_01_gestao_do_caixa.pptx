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713781" y="196724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pt-BR"/>
              <a:t>Administração Financeira</a:t>
            </a:r>
            <a:endParaRPr/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1115617" y="3861048"/>
            <a:ext cx="7370564" cy="1977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Marcelo Perlin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r>
              <a:rPr lang="pt-BR" sz="3100"/>
              <a:t>Gestão do Caixa</a:t>
            </a:r>
            <a:r>
              <a:rPr lang="pt-BR" sz="3100"/>
              <a:t> (Cap 19 – Ross)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Escola de Administração, UFRGS</a:t>
            </a:r>
            <a:endParaRPr/>
          </a:p>
        </p:txBody>
      </p:sp>
      <p:pic>
        <p:nvPicPr>
          <p:cNvPr descr="C:\Dropbox\E.A. UFRGS\Docs Diversos UFRGS\Modelos Slides E.A\Logo_UFRGS_preto.jpg"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825" y="164733"/>
            <a:ext cx="1495847" cy="15427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Dropbox\E.A. UFRGS\Docs Diversos UFRGS\Modelos Slides E.A\LOGO_EA.jpg" id="91" name="Google Shape;9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2320" y="93602"/>
            <a:ext cx="1691682" cy="1967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pt-BR" sz="4000"/>
              <a:t>Plano de Aula</a:t>
            </a:r>
            <a:endParaRPr sz="4000"/>
          </a:p>
        </p:txBody>
      </p:sp>
      <p:sp>
        <p:nvSpPr>
          <p:cNvPr id="97" name="Google Shape;97;p14"/>
          <p:cNvSpPr txBox="1"/>
          <p:nvPr>
            <p:ph idx="1" type="body"/>
          </p:nvPr>
        </p:nvSpPr>
        <p:spPr>
          <a:xfrm>
            <a:off x="518864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A administração do Caixa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Motivos para manutenção de caixa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Conceito de float e estratégias de gestão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Financiamento de curto prazo</a:t>
            </a:r>
            <a:endParaRPr/>
          </a:p>
          <a:p>
            <a:pPr indent="-19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O Ativo Circulante</a:t>
            </a:r>
            <a:endParaRPr/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1132706" y="1901403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pt-BR" sz="3600"/>
              <a:t>AC = </a:t>
            </a:r>
            <a:r>
              <a:rPr b="1" lang="pt-BR" sz="3600" u="sng"/>
              <a:t>Caixa </a:t>
            </a:r>
            <a:r>
              <a:rPr lang="pt-BR" sz="3600"/>
              <a:t>+ 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pt-BR" sz="3600"/>
              <a:t>  	  Estoques + 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pt-BR" sz="3600"/>
              <a:t>        Contas a receber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6588224" y="2708920"/>
            <a:ext cx="576064" cy="1368152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6444208" y="4515257"/>
            <a:ext cx="23042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Liquidez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Motivos para administrar caixa</a:t>
            </a:r>
            <a:endParaRPr/>
          </a:p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778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Motivo transação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Manter caixa para as atividades da empresa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Exemplo: manter capital para pagamento de fornecedores, empregados, etc.</a:t>
            </a:r>
            <a:endParaRPr/>
          </a:p>
          <a:p>
            <a:pPr indent="-1778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Motivo precaução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Manter nível de caixa como </a:t>
            </a:r>
            <a:r>
              <a:rPr b="1" lang="pt-BR" sz="2400"/>
              <a:t>margem de segurança</a:t>
            </a:r>
            <a:r>
              <a:rPr lang="pt-BR" sz="2400"/>
              <a:t> para quaisquer eventualidades</a:t>
            </a:r>
            <a:endParaRPr/>
          </a:p>
          <a:p>
            <a:pPr indent="-1778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Motivo especulação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Manter caixa para possíveis bons investimentos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Exemplo: desconto sazonal no preço de uma matéria prima</a:t>
            </a:r>
            <a:endParaRPr/>
          </a:p>
          <a:p>
            <a:pPr indent="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Efeito Float (ou de compensação)</a:t>
            </a:r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Diferença entre </a:t>
            </a:r>
            <a:r>
              <a:rPr b="1" lang="pt-BR" sz="2400"/>
              <a:t>saldo contábil</a:t>
            </a:r>
            <a:r>
              <a:rPr lang="pt-BR" sz="2400"/>
              <a:t> e </a:t>
            </a:r>
            <a:r>
              <a:rPr b="1" lang="pt-BR" sz="2400"/>
              <a:t>saldo disponível</a:t>
            </a:r>
            <a:r>
              <a:rPr lang="pt-BR" sz="2400"/>
              <a:t> (bancário)</a:t>
            </a:r>
            <a:endParaRPr/>
          </a:p>
          <a:p>
            <a:pPr indent="-44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Efeito líquido de capital em compensação (por exemplo, cheques, pagamento do cartão de crédito)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467544" y="692696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Exemplo Float</a:t>
            </a:r>
            <a:endParaRPr/>
          </a:p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467544" y="1628800"/>
            <a:ext cx="8229600" cy="43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João comprou uma bicicleta por 250 R$ na data de 05/janeiro, porém o cheque somente foi compensado em 20/janeiro. </a:t>
            </a:r>
            <a:endParaRPr sz="2400"/>
          </a:p>
        </p:txBody>
      </p:sp>
      <p:pic>
        <p:nvPicPr>
          <p:cNvPr id="124" name="Google Shape;1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6804" y="2881425"/>
            <a:ext cx="5270400" cy="354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Investimento do float</a:t>
            </a:r>
            <a:endParaRPr/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5925" y="2281759"/>
            <a:ext cx="4352150" cy="261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Tipos de float</a:t>
            </a:r>
            <a:endParaRPr/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Float de desembolso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Exemplo: compra de bicicleta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Float de recebimento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Exemplo: venda de bicicleta para um cliente com pagamento através de cheque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Float líquido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Float de desembolso menos float de recebimento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Define o nível de descasamento entre entradas e saídas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pt-BR" sz="1700"/>
              <a:t>Se positivo, então float de desembolso maior que float de recebimento, a qual é a situação desejável para a empresa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Exemplo:</a:t>
            </a:r>
            <a:endParaRPr/>
          </a:p>
        </p:txBody>
      </p:sp>
      <p:pic>
        <p:nvPicPr>
          <p:cNvPr id="142" name="Google Shape;14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800103"/>
            <a:ext cx="8036450" cy="305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Gestão do float</a:t>
            </a:r>
            <a:endParaRPr/>
          </a:p>
        </p:txBody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628650" y="1885974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Importância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Otimização do </a:t>
            </a:r>
            <a:r>
              <a:rPr b="1" lang="pt-BR" sz="2400"/>
              <a:t>ciclo de caixa</a:t>
            </a:r>
            <a:endParaRPr b="1"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Minimizar custo de oportunidade</a:t>
            </a:r>
            <a:endParaRPr/>
          </a:p>
          <a:p>
            <a:pPr indent="-19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778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Maximizando o float líquido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Minimizar período de recebimento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Maximizar período de desembolso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Gestão dos recebimentos</a:t>
            </a:r>
            <a:endParaRPr/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Caixas postais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Otimização do trâmite dos cheques através de acordo com banco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Os cheques são colocados em caixas postais e recolhidos diretamente pelo banco</a:t>
            </a:r>
            <a:endParaRPr/>
          </a:p>
          <a:p>
            <a:pPr indent="-1778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Concentração de caixa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Distribuição de contas auxiliares para contas principais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Vantagem: Negociar melhores taxas de retorno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Ex: empresa com escritórios regionais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Gestão do desembolso</a:t>
            </a:r>
            <a:endParaRPr/>
          </a:p>
        </p:txBody>
      </p:sp>
      <p:sp>
        <p:nvSpPr>
          <p:cNvPr id="160" name="Google Shape;160;p2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Gestão do float de desembolso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Negociação com fornecedores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Estratégias pouco éticas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 sz="1600"/>
              <a:t>Mandar os cheques para agência bancária diferente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 sz="1600"/>
              <a:t>Mandar cheques com valores errados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Controle dos desembolsos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Contas de saldo nulo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 sz="1600"/>
              <a:t>Uma conta mestre controlando as contas auxiliares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 sz="1600"/>
              <a:t>Saldos das contas auxiliares são transferidos quando na compensação de cheque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 sz="1600"/>
              <a:t>Evita saldos de segurança nas contas auxiliares</a:t>
            </a:r>
            <a:endParaRPr/>
          </a:p>
          <a:p>
            <a:pPr indent="-190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Aplicação de fundos ociosos </a:t>
            </a:r>
            <a:endParaRPr/>
          </a:p>
        </p:txBody>
      </p:sp>
      <p:pic>
        <p:nvPicPr>
          <p:cNvPr id="166" name="Google Shape;16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1988840"/>
            <a:ext cx="7776864" cy="434746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5"/>
          <p:cNvSpPr txBox="1"/>
          <p:nvPr/>
        </p:nvSpPr>
        <p:spPr>
          <a:xfrm>
            <a:off x="755576" y="6021288"/>
            <a:ext cx="676875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Situação 1 – Superávit de capital (aplicar o excedente)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Situação 2 – Déficit de capital (pegar emprestado o faltante)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Títulos de renda fixa de curto prazo</a:t>
            </a:r>
            <a:endParaRPr/>
          </a:p>
        </p:txBody>
      </p:sp>
      <p:sp>
        <p:nvSpPr>
          <p:cNvPr id="173" name="Google Shape;173;p2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32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 sz="3200"/>
              <a:t>Contrato padronizado para trocas de fluxos de caixa, curto ou longo prazo</a:t>
            </a:r>
            <a:endParaRPr sz="3200"/>
          </a:p>
          <a:p>
            <a:pPr indent="-2032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 sz="3200"/>
              <a:t>Características</a:t>
            </a:r>
            <a:endParaRPr/>
          </a:p>
          <a:p>
            <a:pPr indent="-17780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Prazo de vencimento</a:t>
            </a:r>
            <a:endParaRPr/>
          </a:p>
          <a:p>
            <a:pPr indent="-17780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Risco </a:t>
            </a:r>
            <a:endParaRPr/>
          </a:p>
          <a:p>
            <a:pPr indent="-17780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Negociabilidade</a:t>
            </a:r>
            <a:endParaRPr/>
          </a:p>
          <a:p>
            <a:pPr indent="-17780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Tributação</a:t>
            </a:r>
            <a:endParaRPr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Tipos de títulos e mercado interfinanceiro</a:t>
            </a:r>
            <a:endParaRPr/>
          </a:p>
        </p:txBody>
      </p:sp>
      <p:sp>
        <p:nvSpPr>
          <p:cNvPr id="179" name="Google Shape;179;p2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Mercado interfinanceiro e operações hot money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Prazos curtíssimos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Retornos atrelados ao CDI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Produtos do BB (Banco do Brasil – Empresa)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Renda Fixa - Taxas pré fixadas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Exemplo:  BB CDB PRÉ</a:t>
            </a:r>
            <a:endParaRPr sz="1800"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Renda Fixa - Taxas pós fixadas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Exemplo : BB CDB DI </a:t>
            </a:r>
            <a:endParaRPr sz="1800"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 sz="2100"/>
              <a:t>Fundos de investimento - Ações</a:t>
            </a:r>
            <a:endParaRPr sz="2100"/>
          </a:p>
          <a:p>
            <a:pPr indent="-190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BB CDB DI – Banco do Brasil</a:t>
            </a:r>
            <a:endParaRPr/>
          </a:p>
        </p:txBody>
      </p:sp>
      <p:pic>
        <p:nvPicPr>
          <p:cNvPr id="185" name="Google Shape;185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7784" y="1412775"/>
            <a:ext cx="3312368" cy="477976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8"/>
          <p:cNvSpPr txBox="1"/>
          <p:nvPr/>
        </p:nvSpPr>
        <p:spPr>
          <a:xfrm>
            <a:off x="628650" y="6165304"/>
            <a:ext cx="75437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http://www.bb.com.br/portalbb/page44,108,3300,8,0,1,2.bb?codigoNoticia=2343&amp;codigoMenu=114&amp;codigoRet=2062&amp;bread=2_2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Exemplo de Aplicação de Recursos</a:t>
            </a:r>
            <a:endParaRPr/>
          </a:p>
        </p:txBody>
      </p:sp>
      <p:sp>
        <p:nvSpPr>
          <p:cNvPr id="192" name="Google Shape;192;p29"/>
          <p:cNvSpPr txBox="1"/>
          <p:nvPr>
            <p:ph idx="1" type="body"/>
          </p:nvPr>
        </p:nvSpPr>
        <p:spPr>
          <a:xfrm>
            <a:off x="467544" y="1988840"/>
            <a:ext cx="7848872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Uma determinada empresa possui um montante de 100.000 R$ em sua conta caixa, o qual não será utilizado nos próximos 15 dias. Considerando uma taxa do CDI de 0.8% ao mês, qual o montante resgatado no final do período de 15 dias (10 dias úteis) através de uma operação no mercado de moedas?</a:t>
            </a:r>
            <a:endParaRPr/>
          </a:p>
          <a:p>
            <a:pPr indent="-190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r_diário (taxa over) = 0.8%/30 = 0.0267%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Valor resgate = 100000*(1+0.0267%)^10 = 100267 R$</a:t>
            </a:r>
            <a:endParaRPr sz="2400"/>
          </a:p>
          <a:p>
            <a:pPr indent="-190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Exemplo Aplicação BB-CDB-DI</a:t>
            </a:r>
            <a:endParaRPr/>
          </a:p>
        </p:txBody>
      </p:sp>
      <p:pic>
        <p:nvPicPr>
          <p:cNvPr id="198" name="Google Shape;19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6988" y="1690689"/>
            <a:ext cx="4055288" cy="1370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6988" y="3284983"/>
            <a:ext cx="2976578" cy="34058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0" name="Google Shape;200;p30"/>
          <p:cNvCxnSpPr/>
          <p:nvPr/>
        </p:nvCxnSpPr>
        <p:spPr>
          <a:xfrm flipH="1" rot="10800000">
            <a:off x="3682372" y="2492896"/>
            <a:ext cx="810342" cy="1173816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1" name="Google Shape;201;p30"/>
          <p:cNvCxnSpPr/>
          <p:nvPr/>
        </p:nvCxnSpPr>
        <p:spPr>
          <a:xfrm flipH="1" rot="10800000">
            <a:off x="3682372" y="3573016"/>
            <a:ext cx="810342" cy="288032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202" name="Google Shape;20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520" y="1643853"/>
            <a:ext cx="3089138" cy="4898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/>
          <p:nvPr>
            <p:ph type="title"/>
          </p:nvPr>
        </p:nvSpPr>
        <p:spPr>
          <a:xfrm>
            <a:off x="395536" y="54868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Exemplo de Obtenção de Recursos</a:t>
            </a:r>
            <a:endParaRPr/>
          </a:p>
        </p:txBody>
      </p:sp>
      <p:sp>
        <p:nvSpPr>
          <p:cNvPr id="208" name="Google Shape;208;p31"/>
          <p:cNvSpPr txBox="1"/>
          <p:nvPr>
            <p:ph idx="1" type="body"/>
          </p:nvPr>
        </p:nvSpPr>
        <p:spPr>
          <a:xfrm>
            <a:off x="251520" y="1680936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Uma empresa necessita de R$ 2.000.000,00 para os próximos 30 dias, e estudou as seguintes condições para obter o recurso através de uma emissão de uma nota promissória:</a:t>
            </a:r>
            <a:endParaRPr/>
          </a:p>
        </p:txBody>
      </p:sp>
      <p:pic>
        <p:nvPicPr>
          <p:cNvPr id="209" name="Google Shape;20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20" y="3577560"/>
            <a:ext cx="8774242" cy="2448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/>
          <p:nvPr>
            <p:ph type="title"/>
          </p:nvPr>
        </p:nvSpPr>
        <p:spPr>
          <a:xfrm>
            <a:off x="467544" y="692696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Fluxos de Caixa e Juros efetivo</a:t>
            </a:r>
            <a:endParaRPr/>
          </a:p>
        </p:txBody>
      </p:sp>
      <p:pic>
        <p:nvPicPr>
          <p:cNvPr id="215" name="Google Shape;21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20" y="2276872"/>
            <a:ext cx="8712968" cy="3337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