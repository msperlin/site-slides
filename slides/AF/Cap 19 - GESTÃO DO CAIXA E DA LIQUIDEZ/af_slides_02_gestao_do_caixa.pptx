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pt-BR" sz="3100"/>
              <a:t>Conta Caixa (parte 2) - Ross (Cap 18) e Assaf Net (Cap 4)</a:t>
            </a:r>
            <a:endParaRPr sz="3100"/>
          </a:p>
          <a:p>
            <a:pPr indent="0" lvl="0" marL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91" name="Google Shape;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4" y="93600"/>
            <a:ext cx="1495850" cy="173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pt-BR" sz="4000"/>
              <a:t>Plano de Aula</a:t>
            </a:r>
            <a:endParaRPr sz="4000"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518864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A administração do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Determinação do saldo de caixa</a:t>
            </a:r>
            <a:endParaRPr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Determinação do Nível de Caixa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628650" y="1690689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Revisando: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Políticas flexíveis e restritas de administração do AC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Flexível = valor alto em AC, financiado por capital de longo prazo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 sz="1800"/>
              <a:t>Restritiva = valor baixo em AC, financiado por capital de curto prazo (dívidas)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Montante ótimo no AC vai ser o ponto que minimiza os custos de carregamento e de falta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 caixa é o ativo mais líquido da empresa e por isso pode ser entendido como um caso especial na administração do AC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Incerteza dos fluxos de caixa, tanto no recebimento quanto no pagamento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Possibilidade de investimento e tomada de empréstimo do capital</a:t>
            </a:r>
            <a:endParaRPr sz="2000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Sazonalidade das entradas e saídas de caixa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Ilustração do ponto ótimo de Caixa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690689"/>
            <a:ext cx="7112137" cy="4116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Modelos propostos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Caixa Mínimo Operacional (Assaf Neto cap. 4, pag. 88)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Baumol (1952)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de Miller-Orr (1966)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Modelo do dia de semana (Assaf Neto cap. 4, pag. 97)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Caixa Mínimo Operacional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Utiliza o desembolso total previsto no período e o ciclo de caixa para determinar o valor mínimo de caixa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O ciclo de caixa define o período compreendido entre o pagamento da compra de matéria prima até o momento do recebimento das vendas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 alto giro do caixa define que a empresa tem maior capacidade de gerar recursos, o que diminui o valor mínimo a ser mantido em caixa</a:t>
            </a:r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4149080"/>
            <a:ext cx="5105400" cy="1701800"/>
          </a:xfrm>
          <a:prstGeom prst="rect">
            <a:avLst/>
          </a:prstGeom>
          <a:noFill/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467544" y="2060848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Uma empresa possui ciclo operacional de 100 dias e prazo médio de pagamento de fornecedores de 20 dias. Assumindo um desembolso previsto de 100.000 R$ ao ano, qual o montante mínimo a ser deixado na conta caixa? (assuma um ano com 360 dias)</a:t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0698" y="3933056"/>
            <a:ext cx="7540625" cy="176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ao Modelo de Caixa Mínimo Operacional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Baseado em fortes premissas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Fluxos são conhecidos</a:t>
            </a:r>
            <a:endParaRPr/>
          </a:p>
          <a:p>
            <a:pPr indent="-571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O modelo não assume sazonalidades nos fluxos de caixa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O método não define o montante máximo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 abordagem tem enfoque flexível (mais $ em caixa)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Baumol (1952)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Análise específica dos custos e benefícios de manter caixa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Permite definir matematicamente o montante máximo a ser deixado em caixa com base em uma fórmula intuitiva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Elementos: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Custo fixo de conversão de caixa  (custo do pedido)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Custo de oportunidade (investimento em títulos de renda fixa)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Demanda de caixa (determinada pela demanda total do período e assumida fixa para cada intervalo)</a:t>
            </a:r>
            <a:endParaRPr/>
          </a:p>
          <a:p>
            <a:pPr indent="-171450" lvl="2" marL="8572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pt-BR"/>
              <a:t>A empresa SEMPRE gasta o mesmo valor para cada período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Gráfico - Modelo de Baumol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2276872"/>
            <a:ext cx="6480720" cy="3895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Formalização das Ideias</a:t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399" y="2132856"/>
            <a:ext cx="8585201" cy="390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95536" y="76470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Solução Baumol</a:t>
            </a:r>
            <a:endParaRPr/>
          </a:p>
        </p:txBody>
      </p:sp>
      <p:pic>
        <p:nvPicPr>
          <p:cNvPr id="159" name="Google Shape;1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988840"/>
            <a:ext cx="5400600" cy="4510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Uma empresa precisará de 30.000 R$ ao longo de um mês. Considerando um custo de conversão de capital em 5 R$, e uma taxa de oportunidade de 0.6% ao mês, qual o montante máximo a ser mantido em caixa?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3789040"/>
            <a:ext cx="5495925" cy="16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	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628650" y="365126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Baumol (usando dados dos Alunos)</a:t>
            </a:r>
            <a:endParaRPr/>
          </a:p>
        </p:txBody>
      </p:sp>
      <p:sp>
        <p:nvSpPr>
          <p:cNvPr id="178" name="Google Shape;178;p27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ao Modelo de Baumol</a:t>
            </a:r>
            <a:endParaRPr/>
          </a:p>
        </p:txBody>
      </p:sp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Fluxos de caixa conhecidos e iguais para cada período?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 empresa sempre gasta o mesmo valor a cada intervalo?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Falta de saldo de segurança (ou saldo mínimo)?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Porém facilmente adaptável ao modelo arbitrariamente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de Miller Orr (1966)</a:t>
            </a:r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Principal contribuição: Assume que os fluxos de caixa futuros (receitas e despesas) são desconhecidos (aleatórios)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Mas distribuição é conhecida e segue </a:t>
            </a:r>
            <a:r>
              <a:rPr b="1" lang="pt-BR"/>
              <a:t>Normal/Gaussiana</a:t>
            </a:r>
            <a:endParaRPr b="1"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Utiliza as ferramentas da estatística para resolver o problema de alocação de capital no caixa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Determinação de saldos </a:t>
            </a:r>
            <a:r>
              <a:rPr b="1" lang="pt-BR"/>
              <a:t>médio</a:t>
            </a:r>
            <a:r>
              <a:rPr lang="pt-BR"/>
              <a:t>, </a:t>
            </a:r>
            <a:r>
              <a:rPr b="1" lang="pt-BR"/>
              <a:t>mínimo</a:t>
            </a:r>
            <a:r>
              <a:rPr lang="pt-BR"/>
              <a:t> e </a:t>
            </a:r>
            <a:r>
              <a:rPr b="1" lang="pt-BR"/>
              <a:t>máximo</a:t>
            </a:r>
            <a:endParaRPr b="1"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Saldo de caixa flutua entre esses intervalos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95536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 Miller Orr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628800"/>
            <a:ext cx="7560840" cy="4997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Equação Miller-Orr</a:t>
            </a:r>
            <a:endParaRPr/>
          </a:p>
        </p:txBody>
      </p:sp>
      <p:pic>
        <p:nvPicPr>
          <p:cNvPr id="202" name="Google Shape;2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204864"/>
            <a:ext cx="6362700" cy="447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Críticas Modelo Miller-Orr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Distribuições Normais?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Assumir a distribuição Gaussiana sem testar a aderência da mesma é no mínimo complicado!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Um erro no uso da distribuição pode acarretar riscos não contabilizados (erro de modelagem)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pt-BR"/>
              <a:t>Custos de liquidez na conversão de capital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Maiores montantes </a:t>
            </a:r>
            <a:r>
              <a:rPr lang="pt-BR"/>
              <a:t>têm</a:t>
            </a:r>
            <a:r>
              <a:rPr lang="pt-BR"/>
              <a:t> benefícios em termos de taxa de juros (ex: CDB pós fixado)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Modelo do dia da semana (sazonalidade)</a:t>
            </a:r>
            <a:endParaRPr/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Incorpora a existência de sazonalidades nos fluxos de caixa da empresa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Ex: Um restaurante possivelmente tem maior gasto com estoque perto do final de semana e maior entrada de dinheiro no final de semana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Ideia do método: Com base em dados históricos construir previsões  diárias dos fluxos de caixa da empresa, incorporando mais de uma sazonalidade (ex: sazonalidade do dia da semana e sazonalidade do dia do mês)</a:t>
            </a:r>
            <a:endParaRPr/>
          </a:p>
          <a:p>
            <a:pPr indent="-17145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arenR"/>
            </a:pPr>
            <a:r>
              <a:rPr lang="pt-BR"/>
              <a:t>Passos: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Verificar a % dos fluxos de caixa para cada dia da semana e contabilizar seus desvios da média</a:t>
            </a:r>
            <a:endParaRPr/>
          </a:p>
          <a:p>
            <a:pPr indent="-171450" lvl="1" marL="51435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LcParenR"/>
            </a:pPr>
            <a:r>
              <a:rPr lang="pt-BR"/>
              <a:t>Verificar historicamente a % dos fluxos de caixa para cada dia do mês e “ajustar” o FC projetado com o uso dos desvios calculados anteriormente</a:t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Passo 1 – Modelo do dia da semana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227" name="Google Shape;22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726" y="1843901"/>
            <a:ext cx="8208548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Passo 2 – Modelo do dia da semana</a:t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1640" y="1556792"/>
            <a:ext cx="5976664" cy="4747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1825" y="1519425"/>
            <a:ext cx="6077175" cy="482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pt-BR"/>
              <a:t>Quadro comparativo das Técnicas</a:t>
            </a:r>
            <a:endParaRPr/>
          </a:p>
        </p:txBody>
      </p:sp>
      <p:pic>
        <p:nvPicPr>
          <p:cNvPr id="240" name="Google Shape;24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692961"/>
            <a:ext cx="7992888" cy="4690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