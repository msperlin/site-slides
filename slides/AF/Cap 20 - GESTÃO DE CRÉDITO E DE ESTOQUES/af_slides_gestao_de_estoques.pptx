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2 Content" type="txAndTwoObj">
  <p:cSld name="TEXT_AND_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457200" y="2249488"/>
            <a:ext cx="4038600" cy="432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2" type="body"/>
          </p:nvPr>
        </p:nvSpPr>
        <p:spPr>
          <a:xfrm>
            <a:off x="4648200" y="2249488"/>
            <a:ext cx="4038600" cy="2085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3" type="body"/>
          </p:nvPr>
        </p:nvSpPr>
        <p:spPr>
          <a:xfrm>
            <a:off x="4648200" y="4487863"/>
            <a:ext cx="4038600" cy="2085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7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7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9" name="Google Shape;69;p10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, texto e conteúdo" type="txAndObj">
  <p:cSld name="TEXT_AND_OBJEC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457200" y="2249488"/>
            <a:ext cx="4038600" cy="432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2" type="body"/>
          </p:nvPr>
        </p:nvSpPr>
        <p:spPr>
          <a:xfrm>
            <a:off x="4648200" y="2249488"/>
            <a:ext cx="4038600" cy="432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ctrTitle"/>
          </p:nvPr>
        </p:nvSpPr>
        <p:spPr>
          <a:xfrm>
            <a:off x="713781" y="1967246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Administração Financeira</a:t>
            </a:r>
            <a:endParaRPr/>
          </a:p>
        </p:txBody>
      </p:sp>
      <p:sp>
        <p:nvSpPr>
          <p:cNvPr id="104" name="Google Shape;104;p15"/>
          <p:cNvSpPr txBox="1"/>
          <p:nvPr>
            <p:ph idx="1" type="subTitle"/>
          </p:nvPr>
        </p:nvSpPr>
        <p:spPr>
          <a:xfrm>
            <a:off x="1115617" y="3861048"/>
            <a:ext cx="7370564" cy="19773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Marcelo Perlin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100"/>
              <a:buNone/>
            </a:pPr>
            <a:r>
              <a:rPr lang="pt-BR" sz="3100"/>
              <a:t>Gestão dos estoques (Ross 20)</a:t>
            </a:r>
            <a:endParaRPr sz="31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Escola de Administração, UFRGS</a:t>
            </a:r>
            <a:endParaRPr/>
          </a:p>
        </p:txBody>
      </p:sp>
      <p:pic>
        <p:nvPicPr>
          <p:cNvPr descr="C:\Dropbox\E.A. UFRGS\Docs Diversos UFRGS\Modelos Slides E.A\Logo_UFRGS_preto.jp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825" y="164733"/>
            <a:ext cx="1495847" cy="15427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Dropbox\E.A. UFRGS\Docs Diversos UFRGS\Modelos Slides E.A\LOGO_EA.jp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52320" y="93602"/>
            <a:ext cx="1691682" cy="1967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Plano de Aula</a:t>
            </a:r>
            <a:endParaRPr/>
          </a:p>
        </p:txBody>
      </p:sp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519113" y="2205038"/>
            <a:ext cx="8229600" cy="432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A administração de Estoques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Tipos de estoques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Custos e benefícios de manter estoques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Técnicas de administração de estoques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Enfoque ABC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Modelo do Lote Econômico (LEC) e extensões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MRP – Manufacturing Resources Planning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Política JIT – Just in time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O Ativo Circulante</a:t>
            </a:r>
            <a:endParaRPr/>
          </a:p>
        </p:txBody>
      </p:sp>
      <p:sp>
        <p:nvSpPr>
          <p:cNvPr id="118" name="Google Shape;118;p17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None/>
            </a:pPr>
            <a:r>
              <a:rPr lang="pt-BR"/>
              <a:t>AC = Caixa +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None/>
            </a:pPr>
            <a:r>
              <a:rPr lang="pt-BR"/>
              <a:t> 		    </a:t>
            </a:r>
            <a:r>
              <a:rPr b="1" lang="pt-BR" u="sng"/>
              <a:t>Estoques</a:t>
            </a:r>
            <a:r>
              <a:rPr lang="pt-BR"/>
              <a:t> +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None/>
            </a:pPr>
            <a:r>
              <a:rPr lang="pt-BR"/>
              <a:t>         </a:t>
            </a:r>
            <a:r>
              <a:rPr lang="pt-BR"/>
              <a:t>Contas a receber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None/>
            </a:pPr>
            <a:r>
              <a:rPr lang="pt-BR"/>
              <a:t>  	      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eorgia"/>
              <a:buNone/>
            </a:pPr>
            <a:r>
              <a:t/>
            </a:r>
            <a:endParaRPr b="1" u="sng"/>
          </a:p>
          <a:p>
            <a:pPr indent="-292100" lvl="0" marL="2286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pt-BR"/>
              <a:t>Vantagens e desvantagens em manter estoque?</a:t>
            </a:r>
            <a:endParaRPr/>
          </a:p>
          <a:p>
            <a:pPr indent="-292100" lvl="0" marL="2286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pt-BR"/>
              <a:t>Ciclo Operacional e Ciclo de Caixa</a:t>
            </a:r>
            <a:endParaRPr/>
          </a:p>
          <a:p>
            <a:pPr indent="-266700" lvl="1" marL="685800" rtl="0" algn="l"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pt-BR"/>
              <a:t>CO=</a:t>
            </a:r>
            <a:r>
              <a:rPr b="1" lang="pt-BR"/>
              <a:t>PME</a:t>
            </a:r>
            <a:r>
              <a:rPr lang="pt-BR"/>
              <a:t>+PMR</a:t>
            </a:r>
            <a:endParaRPr/>
          </a:p>
          <a:p>
            <a:pPr indent="-266700" lvl="1" marL="685800" rtl="0" algn="l"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pt-BR"/>
              <a:t>CC=CO-PMPF</a:t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5076825" y="2708275"/>
            <a:ext cx="574675" cy="1368425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5705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6011863" y="3644900"/>
            <a:ext cx="23050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Liquidez</a:t>
            </a:r>
            <a:endParaRPr sz="18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type="title"/>
          </p:nvPr>
        </p:nvSpPr>
        <p:spPr>
          <a:xfrm>
            <a:off x="395536" y="692696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Fatores de Análise de Estoques</a:t>
            </a:r>
            <a:endParaRPr/>
          </a:p>
        </p:txBody>
      </p:sp>
      <p:sp>
        <p:nvSpPr>
          <p:cNvPr id="126" name="Google Shape;126;p18"/>
          <p:cNvSpPr txBox="1"/>
          <p:nvPr>
            <p:ph idx="1" type="body"/>
          </p:nvPr>
        </p:nvSpPr>
        <p:spPr>
          <a:xfrm>
            <a:off x="395536" y="1844824"/>
            <a:ext cx="8229600" cy="432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Tipos de estoques: dimensionamento e liquidez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Matéria Prima, Produção em Andamento, Produtos Prontos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Ambiente Financeiro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Custo de oportunidade (taxa de juros), especulação de preço e proteção contra inflação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Características Econômicas de cada Setor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Exemplo: Produção agrícola sazonal acontece durante certo período do ano, porém demanda é constante durante o ano.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Política de venda da empresa e fornecedor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395288" y="620713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Custos e Benefícios dos Estoques</a:t>
            </a:r>
            <a:endParaRPr/>
          </a:p>
        </p:txBody>
      </p:sp>
      <p:sp>
        <p:nvSpPr>
          <p:cNvPr id="132" name="Google Shape;132;p19"/>
          <p:cNvSpPr txBox="1"/>
          <p:nvPr>
            <p:ph idx="1" type="body"/>
          </p:nvPr>
        </p:nvSpPr>
        <p:spPr>
          <a:xfrm>
            <a:off x="395288" y="1700213"/>
            <a:ext cx="8229600" cy="432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Benefícios: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Ter produtos prontos para as vendas e insumos disponíveis para a fabricação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Satisfação do cliente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Custos: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Armazenamento, controle, seguro e transporte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Perdas devido a obsolescência, deterioração ou furto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Ex.: Venda de laptops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Custo do capital aplicado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/>
              <a:t>Ex.: Taxa de juros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/>
              <a:t>Técnicas de Administração de Estoque</a:t>
            </a:r>
            <a:endParaRPr/>
          </a:p>
        </p:txBody>
      </p:sp>
      <p:sp>
        <p:nvSpPr>
          <p:cNvPr id="138" name="Google Shape;138;p20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Enfoque ABC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Modelo de Lote Econômico de Compra (LEC)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MRP (manufactoring resources planning)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JIT (Just in Time)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Enfoque ABC</a:t>
            </a:r>
            <a:endParaRPr/>
          </a:p>
        </p:txBody>
      </p:sp>
      <p:sp>
        <p:nvSpPr>
          <p:cNvPr id="144" name="Google Shape;144;p2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33400" lvl="0" marL="64293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Objetivo: Visualizar os estoques de maior custo</a:t>
            </a:r>
            <a:endParaRPr/>
          </a:p>
          <a:p>
            <a:pPr indent="-533400" lvl="0" marL="64293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Passos:</a:t>
            </a:r>
            <a:endParaRPr/>
          </a:p>
          <a:p>
            <a:pPr indent="-457200" lvl="2" marL="1160463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AutoNum type="arabicPeriod"/>
            </a:pPr>
            <a:r>
              <a:rPr lang="pt-BR"/>
              <a:t>Separe os itens de estoques de acordo com seu valor</a:t>
            </a:r>
            <a:endParaRPr/>
          </a:p>
          <a:p>
            <a:pPr indent="-457200" lvl="2" marL="1160463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AutoNum type="arabicPeriod"/>
            </a:pPr>
            <a:r>
              <a:rPr lang="pt-BR"/>
              <a:t>Ordene de maior valor para menor total de cada item, calculando o percentual do total</a:t>
            </a:r>
            <a:endParaRPr/>
          </a:p>
          <a:p>
            <a:pPr indent="-457200" lvl="2" marL="1160463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AutoNum type="arabicPeriod"/>
            </a:pPr>
            <a:r>
              <a:rPr lang="pt-BR"/>
              <a:t>Construa um gráfico que mostre o valor acumulado dos itens e a respectiva percentagem de sua participação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Exemplo ABC</a:t>
            </a:r>
            <a:endParaRPr/>
          </a:p>
        </p:txBody>
      </p:sp>
      <p:pic>
        <p:nvPicPr>
          <p:cNvPr id="150" name="Google Shape;15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402" y="1708975"/>
            <a:ext cx="5329237" cy="4237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Cálculos ABC</a:t>
            </a:r>
            <a:endParaRPr/>
          </a:p>
        </p:txBody>
      </p:sp>
      <p:pic>
        <p:nvPicPr>
          <p:cNvPr id="156" name="Google Shape;15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512" y="2080280"/>
            <a:ext cx="8819738" cy="3888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>
            <p:ph type="title"/>
          </p:nvPr>
        </p:nvSpPr>
        <p:spPr>
          <a:xfrm>
            <a:off x="467544" y="404664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Gráfico ABC</a:t>
            </a:r>
            <a:endParaRPr/>
          </a:p>
        </p:txBody>
      </p:sp>
      <p:pic>
        <p:nvPicPr>
          <p:cNvPr id="162" name="Google Shape;16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5616" y="1556792"/>
            <a:ext cx="6408737" cy="4757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>
            <p:ph type="title"/>
          </p:nvPr>
        </p:nvSpPr>
        <p:spPr>
          <a:xfrm>
            <a:off x="395288" y="90805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Modelo de Lote Econômico (LEC) </a:t>
            </a:r>
            <a:endParaRPr/>
          </a:p>
        </p:txBody>
      </p:sp>
      <p:sp>
        <p:nvSpPr>
          <p:cNvPr id="168" name="Google Shape;168;p25"/>
          <p:cNvSpPr txBox="1"/>
          <p:nvPr>
            <p:ph idx="1" type="body"/>
          </p:nvPr>
        </p:nvSpPr>
        <p:spPr>
          <a:xfrm>
            <a:off x="323850" y="2349500"/>
            <a:ext cx="8229600" cy="432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Mesma estrutura do modelo de Baumol (administração de caixa)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Ideia básica: Qual o nível de estoque que minimiza os custos totais de estocagem?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>
            <p:ph type="title"/>
          </p:nvPr>
        </p:nvSpPr>
        <p:spPr>
          <a:xfrm>
            <a:off x="468313" y="47625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Critérios do LEC</a:t>
            </a:r>
            <a:endParaRPr/>
          </a:p>
        </p:txBody>
      </p:sp>
      <p:sp>
        <p:nvSpPr>
          <p:cNvPr id="174" name="Google Shape;174;p26"/>
          <p:cNvSpPr txBox="1"/>
          <p:nvPr>
            <p:ph idx="1" type="body"/>
          </p:nvPr>
        </p:nvSpPr>
        <p:spPr>
          <a:xfrm>
            <a:off x="468313" y="1484313"/>
            <a:ext cx="8229600" cy="432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Nível de estoque igual a Q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Quando estoque chega a zero, um novo pedido de Q unidades é feito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Estoque médio igual a Q/2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75" name="Google Shape;17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3" y="3500438"/>
            <a:ext cx="5048250" cy="316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Custos de Estoque</a:t>
            </a:r>
            <a:endParaRPr/>
          </a:p>
        </p:txBody>
      </p:sp>
      <p:sp>
        <p:nvSpPr>
          <p:cNvPr id="181" name="Google Shape;181;p27"/>
          <p:cNvSpPr txBox="1"/>
          <p:nvPr>
            <p:ph idx="1" type="body"/>
          </p:nvPr>
        </p:nvSpPr>
        <p:spPr>
          <a:xfrm>
            <a:off x="457200" y="2249488"/>
            <a:ext cx="7427913" cy="432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Custo de Carregamento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pt-BR" sz="2200"/>
              <a:t>Seguro, armazenagem, custo de capital, etc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pt-BR" sz="2200"/>
              <a:t>CC = Estoque Médio * Custo de Carregamento por unidade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pt-BR" sz="2200"/>
              <a:t>CC=Q/2*CC_unidade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Custo do Pedido (ou reabastecimento)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pt-BR" sz="2200"/>
              <a:t>Transporte, custos administrativos, etc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pt-BR" sz="2200"/>
              <a:t>CP = Custo fixo por pedido * Número de pedidos (ano)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pt-BR" sz="2200"/>
              <a:t>CP = F * (Total de compra de estoque no ano/Q)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Custos Totais</a:t>
            </a:r>
            <a:endParaRPr/>
          </a:p>
        </p:txBody>
      </p:sp>
      <p:sp>
        <p:nvSpPr>
          <p:cNvPr id="187" name="Google Shape;187;p28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Custos Totais = CC + CP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Custos Totais = Q/2*CC_unidade + F * (T/Q)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Dado CC_unidade, F e T, qual o valor de Q que miniminiza o custo total?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Vai Excel</a:t>
            </a:r>
            <a:endParaRPr/>
          </a:p>
        </p:txBody>
      </p:sp>
      <p:pic>
        <p:nvPicPr>
          <p:cNvPr id="188" name="Google Shape;18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9592" y="4077072"/>
            <a:ext cx="2447925" cy="1223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"/>
          <p:cNvSpPr txBox="1"/>
          <p:nvPr>
            <p:ph type="title"/>
          </p:nvPr>
        </p:nvSpPr>
        <p:spPr>
          <a:xfrm>
            <a:off x="468313" y="765175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Críticas ao LEC</a:t>
            </a:r>
            <a:endParaRPr/>
          </a:p>
        </p:txBody>
      </p:sp>
      <p:sp>
        <p:nvSpPr>
          <p:cNvPr id="194" name="Google Shape;194;p29"/>
          <p:cNvSpPr txBox="1"/>
          <p:nvPr>
            <p:ph idx="1" type="body"/>
          </p:nvPr>
        </p:nvSpPr>
        <p:spPr>
          <a:xfrm>
            <a:off x="395288" y="1916113"/>
            <a:ext cx="8229600" cy="432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Não prevê custos de falta por vendas perdidas (uso de estoque de segurança)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Demanda é assumida constante por unidade de tempo (e conhecida)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Um novo carregamento de estoque chega instantaneamente na empresa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Assume que a necessidade de cada estoque é independente do outro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Não atribui desconto pela compra de volumes altos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Extensões Modelo LEC</a:t>
            </a:r>
            <a:endParaRPr/>
          </a:p>
        </p:txBody>
      </p:sp>
      <p:sp>
        <p:nvSpPr>
          <p:cNvPr id="200" name="Google Shape;200;p30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Estoque de Segurança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Realizar pedidos antes do estoque chegar a zero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Ponto de reabastecimento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O transporte do estoque leva tempo portanto pode-se pedir o reabastecimento um tempo anterior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Desconto no preço pago no estoque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Exemplo: Estoque segurança e ponto de reabastecimento</a:t>
            </a:r>
            <a:endParaRPr/>
          </a:p>
        </p:txBody>
      </p:sp>
      <p:pic>
        <p:nvPicPr>
          <p:cNvPr id="206" name="Google Shape;20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186" y="1916832"/>
            <a:ext cx="8100287" cy="3816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LEC com desconto por volume</a:t>
            </a:r>
            <a:endParaRPr/>
          </a:p>
        </p:txBody>
      </p:sp>
      <p:sp>
        <p:nvSpPr>
          <p:cNvPr id="212" name="Google Shape;212;p32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Custo Total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/>
              <a:t>CT=CC+CO-Benefício do volume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/>
              <a:t>Vai Excel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/>
              <a:t>Administração de Estoques por Demanda (MRP e JIT)</a:t>
            </a:r>
            <a:endParaRPr/>
          </a:p>
        </p:txBody>
      </p:sp>
      <p:sp>
        <p:nvSpPr>
          <p:cNvPr id="218" name="Google Shape;218;p33"/>
          <p:cNvSpPr txBox="1"/>
          <p:nvPr>
            <p:ph idx="1" type="body"/>
          </p:nvPr>
        </p:nvSpPr>
        <p:spPr>
          <a:xfrm>
            <a:off x="468313" y="2533650"/>
            <a:ext cx="8229600" cy="432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MRP – Manufactoring resources planning (planejamento de recursos de produção)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Georgia"/>
              <a:buNone/>
            </a:pPr>
            <a:r>
              <a:t/>
            </a:r>
            <a:endParaRPr sz="2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Política JIT (Just In Time)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>
            <p:ph type="title"/>
          </p:nvPr>
        </p:nvSpPr>
        <p:spPr>
          <a:xfrm>
            <a:off x="468313" y="765175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MRP II - Manufactoring resources planning </a:t>
            </a:r>
            <a:endParaRPr/>
          </a:p>
        </p:txBody>
      </p:sp>
      <p:sp>
        <p:nvSpPr>
          <p:cNvPr id="224" name="Google Shape;224;p34"/>
          <p:cNvSpPr txBox="1"/>
          <p:nvPr>
            <p:ph idx="1" type="body"/>
          </p:nvPr>
        </p:nvSpPr>
        <p:spPr>
          <a:xfrm>
            <a:off x="395288" y="1916113"/>
            <a:ext cx="8229600" cy="432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Versão embrioária do MRP surge após fim da segunda guerra mundial nos EUA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pt-BR" sz="2200"/>
              <a:t>Concorrência e estabilização da demanda criou necessidades de administrar estoques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Conceito: MRP é um sistema computacional que objetiva cumprir os prazos de entrega com a formação mínima de estoque (tenta integrar os setores da empresa)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pt-BR" sz="2200"/>
              <a:t>Necessidades de estoques calculada com base na necessidade de produtos prontos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pt-BR" sz="2200"/>
              <a:t>Produtos prontos calculados com base em uma previsão do mercado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pt-BR" sz="2200"/>
              <a:t>Maior benefício para a produção de produtos complexos, com mais necessidade de matéria prima.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5"/>
          <p:cNvSpPr txBox="1"/>
          <p:nvPr>
            <p:ph type="title"/>
          </p:nvPr>
        </p:nvSpPr>
        <p:spPr>
          <a:xfrm>
            <a:off x="468313" y="836613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Exemplo MRP II</a:t>
            </a:r>
            <a:endParaRPr/>
          </a:p>
        </p:txBody>
      </p:sp>
      <p:pic>
        <p:nvPicPr>
          <p:cNvPr descr="Imagem_4.png" id="230" name="Google Shape;230;p3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3" y="1844675"/>
            <a:ext cx="6985000" cy="4751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Política JIT (Just In Time)</a:t>
            </a:r>
            <a:br>
              <a:rPr lang="pt-BR"/>
            </a:br>
            <a:endParaRPr/>
          </a:p>
        </p:txBody>
      </p:sp>
      <p:sp>
        <p:nvSpPr>
          <p:cNvPr id="236" name="Google Shape;236;p3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Sistema de produção com origem japonesa (Exemplo clássico: Toyota)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Conceito: Nada deve ser produzido, transportado ou comprado antes da hora exata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Objetivo: manter estoque zerado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pt-BR" sz="2400"/>
              <a:t>Poucos fornecedores (sistemas integrados e ágeis)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pt-BR" sz="2000"/>
              <a:t>Porém maior risco sistêmico (ex. Terremoto no japão  2011)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