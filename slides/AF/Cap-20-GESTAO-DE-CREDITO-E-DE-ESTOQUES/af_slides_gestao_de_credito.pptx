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texto e conteúdo" type="txAndObj">
  <p:cSld name="TEXT_AND_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57200" y="2249488"/>
            <a:ext cx="4038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648200" y="2249488"/>
            <a:ext cx="4038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8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8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ctrTitle"/>
          </p:nvPr>
        </p:nvSpPr>
        <p:spPr>
          <a:xfrm>
            <a:off x="713781" y="196724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Administração Financeira</a:t>
            </a:r>
            <a:endParaRPr/>
          </a:p>
        </p:txBody>
      </p:sp>
      <p:sp>
        <p:nvSpPr>
          <p:cNvPr id="96" name="Google Shape;96;p14"/>
          <p:cNvSpPr txBox="1"/>
          <p:nvPr>
            <p:ph idx="1" type="subTitle"/>
          </p:nvPr>
        </p:nvSpPr>
        <p:spPr>
          <a:xfrm>
            <a:off x="1115617" y="3861048"/>
            <a:ext cx="7370564" cy="1977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Marcelo Perlin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r>
              <a:rPr lang="pt-BR" sz="3100"/>
              <a:t>Gestão do crédito (Ross Cap 20)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Escola de Administração, UFRGS</a:t>
            </a:r>
            <a:endParaRPr/>
          </a:p>
        </p:txBody>
      </p:sp>
      <p:pic>
        <p:nvPicPr>
          <p:cNvPr descr="C:\Dropbox\E.A. UFRGS\Docs Diversos UFRGS\Modelos Slides E.A\Logo_UFRGS_preto.jp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" y="164733"/>
            <a:ext cx="1495847" cy="1542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Dropbox\E.A. UFRGS\Docs Diversos UFRGS\Modelos Slides E.A\LOGO_EA.jp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2320" y="93602"/>
            <a:ext cx="1691682" cy="1967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Plano de Aula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519113" y="2205038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 administração de contas a receber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Componentes da política de crédito e suas influências sobre atividades da empresa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Análise do Crédito no Varejo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Uma montante “ótimo” de crédito</a:t>
            </a:r>
            <a:endParaRPr/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pt-BR"/>
              <a:t>Ferramentas para administração de contas a receber (quadro de idades)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O Ativo Circulante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rPr lang="pt-BR"/>
              <a:t>AC = Caixa +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rPr lang="pt-BR"/>
              <a:t>  	       Estoques +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rPr lang="pt-BR"/>
              <a:t>          </a:t>
            </a:r>
            <a:r>
              <a:rPr b="1" lang="pt-BR" u="sng"/>
              <a:t>Contas a receber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t/>
            </a:r>
            <a:endParaRPr b="1" u="sng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Vantagens e desvantagens na venda a prazo?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Ciclo Operacional e Ciclo de Caixa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CO=PME+</a:t>
            </a:r>
            <a:r>
              <a:rPr b="1" lang="pt-BR"/>
              <a:t>PMR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CC=CO-PMPF</a:t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5076825" y="2708275"/>
            <a:ext cx="574675" cy="136842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6011863" y="3644900"/>
            <a:ext cx="23050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Liquidez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idx="4294967295" type="title"/>
          </p:nvPr>
        </p:nvSpPr>
        <p:spPr>
          <a:xfrm>
            <a:off x="539552" y="910853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3600"/>
              <a:t>Influências de uma política de crédito sobre as medidas financeiras</a:t>
            </a:r>
            <a:endParaRPr sz="3600"/>
          </a:p>
        </p:txBody>
      </p:sp>
      <p:sp>
        <p:nvSpPr>
          <p:cNvPr id="118" name="Google Shape;118;p17"/>
          <p:cNvSpPr txBox="1"/>
          <p:nvPr/>
        </p:nvSpPr>
        <p:spPr>
          <a:xfrm>
            <a:off x="346285" y="5285208"/>
            <a:ext cx="3887788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Fonte: Assaf Neto e Silva (2010)</a:t>
            </a:r>
            <a:endParaRPr b="0" i="0" sz="16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285" y="2379290"/>
            <a:ext cx="8137525" cy="267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395536" y="69269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Pergunta: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467544" y="2204864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953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</a:pPr>
            <a:r>
              <a:rPr lang="pt-BR" sz="2400"/>
              <a:t>Uma determinada empresa observou um aumento do total de suas vendas à vista em relação às vendas totais. Qual a explicação mais coerente?</a:t>
            </a:r>
            <a:endParaRPr/>
          </a:p>
          <a:p>
            <a:pPr indent="-5143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LcParenR"/>
            </a:pPr>
            <a:r>
              <a:rPr lang="pt-BR" sz="2400"/>
              <a:t>A empresa afrouxou sua restrição de crédito</a:t>
            </a:r>
            <a:endParaRPr/>
          </a:p>
          <a:p>
            <a:pPr indent="-5143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LcParenR"/>
            </a:pPr>
            <a:r>
              <a:rPr lang="pt-BR" sz="2400"/>
              <a:t>A empresa diminuiu o desconto por pagamento à vista</a:t>
            </a:r>
            <a:endParaRPr/>
          </a:p>
          <a:p>
            <a:pPr indent="-5143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LcParenR"/>
            </a:pPr>
            <a:r>
              <a:rPr lang="pt-BR" sz="2400"/>
              <a:t>A empresa aumentou os juros cobrados na  concessão de crédito</a:t>
            </a:r>
            <a:endParaRPr/>
          </a:p>
          <a:p>
            <a:pPr indent="-5143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LcParenR"/>
            </a:pPr>
            <a:r>
              <a:rPr lang="pt-BR" sz="2400"/>
              <a:t>A empresa aumentou o prazo de concessão de crédito</a:t>
            </a:r>
            <a:endParaRPr/>
          </a:p>
          <a:p>
            <a:pPr indent="-3619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/>
              <a:t>Componentes da Política de Crédito</a:t>
            </a:r>
            <a:endParaRPr sz="3600"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pt-BR" sz="2600"/>
              <a:t>Condição de venda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pt-BR" sz="2300"/>
              <a:t>Prazo de concessão de crédito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pt-BR" sz="2300"/>
              <a:t>Descontos financeiros por pagamento à vista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pt-BR" sz="2600"/>
              <a:t>Análise de crédito (padrões de crédito)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pt-BR" sz="2300"/>
              <a:t>Risco de inadimplência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pt-BR" sz="2600"/>
              <a:t>Política de cobrança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pt-BR" sz="2300"/>
              <a:t>Como administrar as contas a receber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Condições de Venda</a:t>
            </a: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Período (prazo) do crédito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Quanto tempo para pagamento do crédito?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Taxa de juros e prazo da dívida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Risco e juros aumenta com prazo de dívida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Um aumento demasiado pode gerar problema de liquidez para a empresa pois altera o ciclo de caixa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Desconto por pagamento à vista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Se a dívida for paga antes, quanto de desconto conceder?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Pergunta:</a:t>
            </a:r>
            <a:endParaRPr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953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Na data de 26/10/2012 a taxa SELIC estava no valor de 7,25%. Caso a taxa baixar para 5%, quais os dois prováveis impactos dentro das finanças da empresa?</a:t>
            </a:r>
            <a:endParaRPr/>
          </a:p>
          <a:p>
            <a:pPr indent="-5143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pt-BR"/>
              <a:t>Aumento de vendas a vista</a:t>
            </a:r>
            <a:endParaRPr/>
          </a:p>
          <a:p>
            <a:pPr indent="-5143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pt-BR"/>
              <a:t>Diminuição de vendas a prazo</a:t>
            </a:r>
            <a:endParaRPr/>
          </a:p>
          <a:p>
            <a:pPr indent="-5143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pt-BR"/>
              <a:t>Aumento na provisão de saldo devedor</a:t>
            </a:r>
            <a:endParaRPr/>
          </a:p>
          <a:p>
            <a:pPr indent="-5143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pt-BR"/>
              <a:t>Aumento no número de antecipações de dívidas (pagamentos de dívidas anteriores)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/>
              <a:t>Exemplo Desconto por Pagamento antecipado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Notação Geral: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X/Y, Z líquidos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Pagamento em Y dias com desconto de X %, ou pagamento de 100 % em Z dias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Exemplo: Venda de produto por 100 R$ com 3/15, 45 líquidos.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Situação corriqueira no Brasil: X/0, Z líquidos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95536" y="1196752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Notação Fluxos de Caixa</a:t>
            </a:r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5461288" y="4276103"/>
            <a:ext cx="360040" cy="156237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" name="Google Shape;156;p23"/>
          <p:cNvGrpSpPr/>
          <p:nvPr/>
        </p:nvGrpSpPr>
        <p:grpSpPr>
          <a:xfrm>
            <a:off x="1215041" y="3159263"/>
            <a:ext cx="5974254" cy="3367720"/>
            <a:chOff x="757986" y="2803248"/>
            <a:chExt cx="5974254" cy="3367720"/>
          </a:xfrm>
        </p:grpSpPr>
        <p:sp>
          <p:nvSpPr>
            <p:cNvPr id="157" name="Google Shape;157;p23"/>
            <p:cNvSpPr/>
            <p:nvPr/>
          </p:nvSpPr>
          <p:spPr>
            <a:xfrm>
              <a:off x="757986" y="3795112"/>
              <a:ext cx="5400600" cy="43204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15705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2332584" y="4011136"/>
              <a:ext cx="360040" cy="1152128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15705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3"/>
            <p:cNvSpPr txBox="1"/>
            <p:nvPr/>
          </p:nvSpPr>
          <p:spPr>
            <a:xfrm>
              <a:off x="1576500" y="5280342"/>
              <a:ext cx="18722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100% - X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3"/>
            <p:cNvSpPr txBox="1"/>
            <p:nvPr/>
          </p:nvSpPr>
          <p:spPr>
            <a:xfrm>
              <a:off x="4860032" y="5709303"/>
              <a:ext cx="18722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100 %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3"/>
            <p:cNvSpPr/>
            <p:nvPr/>
          </p:nvSpPr>
          <p:spPr>
            <a:xfrm rot="5400000">
              <a:off x="1336979" y="2744463"/>
              <a:ext cx="596632" cy="1754618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3"/>
            <p:cNvSpPr txBox="1"/>
            <p:nvPr/>
          </p:nvSpPr>
          <p:spPr>
            <a:xfrm>
              <a:off x="3707904" y="2893586"/>
              <a:ext cx="18722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 rot="5400000">
              <a:off x="3630412" y="2366452"/>
              <a:ext cx="596632" cy="2527448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3"/>
            <p:cNvSpPr txBox="1"/>
            <p:nvPr/>
          </p:nvSpPr>
          <p:spPr>
            <a:xfrm>
              <a:off x="1501868" y="2803248"/>
              <a:ext cx="93610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5" name="Google Shape;1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241" y="2276872"/>
            <a:ext cx="2772308" cy="50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395536" y="836712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Cálculo da taxa de Juros Implícita</a:t>
            </a:r>
            <a:endParaRPr/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457200" y="2249488"/>
            <a:ext cx="4038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Vai Excel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72" name="Google Shape;17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8" y="2205038"/>
            <a:ext cx="554672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Pergunta:</a:t>
            </a:r>
            <a:endParaRPr/>
          </a:p>
        </p:txBody>
      </p:sp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953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Uma empresa vende um produto por 80 R$ com pagamento em 30 dias ou 70 R$ para pagamento a vista. Qual a taxa de juros mensal implícita pelo período da operação?</a:t>
            </a:r>
            <a:endParaRPr/>
          </a:p>
          <a:p>
            <a:pPr indent="-5143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pt-BR"/>
              <a:t>14,28 %</a:t>
            </a:r>
            <a:endParaRPr/>
          </a:p>
          <a:p>
            <a:pPr indent="-5143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pt-BR"/>
              <a:t>15,33 %</a:t>
            </a:r>
            <a:endParaRPr/>
          </a:p>
          <a:p>
            <a:pPr indent="-5143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pt-BR"/>
              <a:t>12,62%</a:t>
            </a:r>
            <a:endParaRPr/>
          </a:p>
          <a:p>
            <a:pPr indent="-5143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pt-BR"/>
              <a:t>11,86 %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Pergunta:</a:t>
            </a:r>
            <a:endParaRPr/>
          </a:p>
        </p:txBody>
      </p:sp>
      <p:sp>
        <p:nvSpPr>
          <p:cNvPr id="184" name="Google Shape;184;p26"/>
          <p:cNvSpPr txBox="1"/>
          <p:nvPr>
            <p:ph idx="1" type="body"/>
          </p:nvPr>
        </p:nvSpPr>
        <p:spPr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Em um determinado site oferece um determinado produto pelo valor de 2000 R$ pago depois de 30 dias ou então  1850 R$ pagos a vista, qual o juros anual implícito na operação?</a:t>
            </a:r>
            <a:endParaRPr/>
          </a:p>
          <a:p>
            <a:pPr indent="-514350" lvl="0" marL="623887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pt-BR"/>
              <a:t>5,263 %</a:t>
            </a:r>
            <a:endParaRPr/>
          </a:p>
          <a:p>
            <a:pPr indent="-514350" lvl="0" marL="623887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pt-BR"/>
              <a:t>8,108%</a:t>
            </a:r>
            <a:endParaRPr/>
          </a:p>
          <a:p>
            <a:pPr indent="-514350" lvl="0" marL="623887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pt-BR"/>
              <a:t>46,42%</a:t>
            </a:r>
            <a:endParaRPr/>
          </a:p>
          <a:p>
            <a:pPr indent="-514350" lvl="0" marL="623887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pt-BR"/>
              <a:t>158,19%</a:t>
            </a:r>
            <a:endParaRPr/>
          </a:p>
          <a:p>
            <a:pPr indent="-336550" lvl="0" marL="623887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323528" y="476672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Crédito no Varejo (1)</a:t>
            </a:r>
            <a:endParaRPr/>
          </a:p>
        </p:txBody>
      </p:sp>
      <p:sp>
        <p:nvSpPr>
          <p:cNvPr id="190" name="Google Shape;190;p27"/>
          <p:cNvSpPr txBox="1"/>
          <p:nvPr/>
        </p:nvSpPr>
        <p:spPr>
          <a:xfrm>
            <a:off x="395536" y="6309320"/>
            <a:ext cx="3240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Excel!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484784"/>
            <a:ext cx="8352928" cy="4795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323528" y="476672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Crédito no Varejo (2)</a:t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395536" y="6309320"/>
            <a:ext cx="3240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Excel!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1484784"/>
            <a:ext cx="8587041" cy="4896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457200" y="69269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Avaliação financeira de uma política de crédito</a:t>
            </a:r>
            <a:endParaRPr/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457200" y="2249488"/>
            <a:ext cx="7499176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Efeitos de uma política de crédito: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Efeitos sobre a receita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Efeito do custo imediato (produção)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Custo da dívida (possível financiamento do AC)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Probabilidade de inadimplência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Desconto financeiro por antecipação de dívida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457200" y="69269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Avaliação financeira de uma política de crédito</a:t>
            </a:r>
            <a:endParaRPr/>
          </a:p>
        </p:txBody>
      </p:sp>
      <p:sp>
        <p:nvSpPr>
          <p:cNvPr id="210" name="Google Shape;210;p30"/>
          <p:cNvSpPr txBox="1"/>
          <p:nvPr>
            <p:ph idx="1" type="body"/>
          </p:nvPr>
        </p:nvSpPr>
        <p:spPr>
          <a:xfrm>
            <a:off x="457200" y="2249488"/>
            <a:ext cx="7499176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Considere as seguintes variáveis: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O valor da mudança será representado como um projeto e seu correspondente VPL</a:t>
            </a:r>
            <a:endParaRPr/>
          </a:p>
        </p:txBody>
      </p:sp>
      <p:pic>
        <p:nvPicPr>
          <p:cNvPr id="211" name="Google Shape;2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838" y="2852738"/>
            <a:ext cx="6334125" cy="216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457200" y="69269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 Gafanhoto Software (1)</a:t>
            </a:r>
            <a:endParaRPr/>
          </a:p>
        </p:txBody>
      </p:sp>
      <p:pic>
        <p:nvPicPr>
          <p:cNvPr id="217" name="Google Shape;21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3337024"/>
            <a:ext cx="1031875" cy="21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1"/>
          <p:cNvSpPr txBox="1"/>
          <p:nvPr>
            <p:ph idx="1" type="body"/>
          </p:nvPr>
        </p:nvSpPr>
        <p:spPr>
          <a:xfrm>
            <a:off x="457199" y="2249488"/>
            <a:ext cx="6654719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Avaliação de mudança para concessão de crédito em 30 dias</a:t>
            </a:r>
            <a:endParaRPr/>
          </a:p>
        </p:txBody>
      </p:sp>
      <p:pic>
        <p:nvPicPr>
          <p:cNvPr id="219" name="Google Shape;21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7784" y="3284984"/>
            <a:ext cx="5527675" cy="2525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457200" y="69269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 Gafanhoto Software (2)</a:t>
            </a:r>
            <a:endParaRPr/>
          </a:p>
        </p:txBody>
      </p:sp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457199" y="2249488"/>
            <a:ext cx="6654719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Investimento inicial =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Venda a vista deixadas de fazer +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Custo incremental dos produtos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26" name="Google Shape;22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4005064"/>
            <a:ext cx="4640262" cy="122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/>
          <p:nvPr>
            <p:ph type="title"/>
          </p:nvPr>
        </p:nvSpPr>
        <p:spPr>
          <a:xfrm>
            <a:off x="457200" y="69269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Avaliação de uma política de crédito proposta – Exemplo Gafanhoto Software (3)</a:t>
            </a:r>
            <a:endParaRPr/>
          </a:p>
        </p:txBody>
      </p:sp>
      <p:pic>
        <p:nvPicPr>
          <p:cNvPr id="232" name="Google Shape;23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60" y="3140968"/>
            <a:ext cx="7708900" cy="1716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>
            <p:ph type="title"/>
          </p:nvPr>
        </p:nvSpPr>
        <p:spPr>
          <a:xfrm>
            <a:off x="611560" y="69269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Ponto de equilíbrio</a:t>
            </a:r>
            <a:endParaRPr/>
          </a:p>
        </p:txBody>
      </p:sp>
      <p:pic>
        <p:nvPicPr>
          <p:cNvPr id="238" name="Google Shape;23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2348880"/>
            <a:ext cx="5254625" cy="3138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Política Ótima de Crédito</a:t>
            </a:r>
            <a:endParaRPr/>
          </a:p>
        </p:txBody>
      </p:sp>
      <p:sp>
        <p:nvSpPr>
          <p:cNvPr id="244" name="Google Shape;244;p35"/>
          <p:cNvSpPr txBox="1"/>
          <p:nvPr>
            <p:ph idx="1" type="body"/>
          </p:nvPr>
        </p:nvSpPr>
        <p:spPr>
          <a:xfrm>
            <a:off x="457200" y="2249488"/>
            <a:ext cx="7499176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Benefícios no aumento da conta crédito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Aumento de vendas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Custos no  aumento da conta crédito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Aumento de saldo na conta de provisão a devedores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Custo de oportunidade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Custos de Estrutura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Como especificar esses valores?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Política Ótima de Crédito</a:t>
            </a:r>
            <a:endParaRPr/>
          </a:p>
        </p:txBody>
      </p:sp>
      <p:pic>
        <p:nvPicPr>
          <p:cNvPr id="250" name="Google Shape;25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8" y="2060575"/>
            <a:ext cx="6624637" cy="4710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Análise de Crédito</a:t>
            </a:r>
            <a:endParaRPr/>
          </a:p>
        </p:txBody>
      </p:sp>
      <p:sp>
        <p:nvSpPr>
          <p:cNvPr id="256" name="Google Shape;256;p3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Cinco Cs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Caráter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Capacidade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Capital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Garantias (Collateral)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Condições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Pergunta:</a:t>
            </a:r>
            <a:endParaRPr/>
          </a:p>
        </p:txBody>
      </p:sp>
      <p:sp>
        <p:nvSpPr>
          <p:cNvPr id="262" name="Google Shape;262;p38"/>
          <p:cNvSpPr txBox="1"/>
          <p:nvPr>
            <p:ph idx="1" type="body"/>
          </p:nvPr>
        </p:nvSpPr>
        <p:spPr>
          <a:xfrm>
            <a:off x="457200" y="2249488"/>
            <a:ext cx="843528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Seu melhor amigo lhe pediu 1.000 R$ Emprestado. Esta dívida será paga em 12 meses, 85 R$ por mês. Do ponto de vista financeiro, vale a pena realizar essa operação?</a:t>
            </a:r>
            <a:endParaRPr/>
          </a:p>
          <a:p>
            <a:pPr indent="-5143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pt-BR"/>
              <a:t>Sim</a:t>
            </a:r>
            <a:endParaRPr/>
          </a:p>
          <a:p>
            <a:pPr indent="-5143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pt-BR"/>
              <a:t>Não</a:t>
            </a:r>
            <a:endParaRPr/>
          </a:p>
          <a:p>
            <a:pPr indent="-514350" lvl="0" marL="6238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pt-BR"/>
              <a:t>Indeciso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9"/>
          <p:cNvSpPr txBox="1"/>
          <p:nvPr>
            <p:ph type="title"/>
          </p:nvPr>
        </p:nvSpPr>
        <p:spPr>
          <a:xfrm>
            <a:off x="385192" y="54868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Precificando uma dívida com base em probabilidade de inadimplência</a:t>
            </a:r>
            <a:endParaRPr/>
          </a:p>
        </p:txBody>
      </p:sp>
      <p:pic>
        <p:nvPicPr>
          <p:cNvPr id="268" name="Google Shape;26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7088" y="1838164"/>
            <a:ext cx="3967972" cy="20162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69" name="Google Shape;26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1720" y="4075886"/>
            <a:ext cx="4824536" cy="2600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Derivação</a:t>
            </a:r>
            <a:endParaRPr/>
          </a:p>
        </p:txBody>
      </p:sp>
      <p:pic>
        <p:nvPicPr>
          <p:cNvPr id="275" name="Google Shape;27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1844824"/>
            <a:ext cx="6336506" cy="360835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Efeito da Inadimplência sobre Juros cobrado</a:t>
            </a:r>
            <a:endParaRPr/>
          </a:p>
        </p:txBody>
      </p:sp>
      <p:pic>
        <p:nvPicPr>
          <p:cNvPr id="281" name="Google Shape;28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640" y="2132856"/>
            <a:ext cx="6480720" cy="389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/>
          <p:nvPr>
            <p:ph idx="4294967295" type="title"/>
          </p:nvPr>
        </p:nvSpPr>
        <p:spPr>
          <a:xfrm>
            <a:off x="683568" y="69269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/>
              <a:t>Fontes para a análise de crédito</a:t>
            </a:r>
            <a:endParaRPr sz="3600"/>
          </a:p>
        </p:txBody>
      </p:sp>
      <p:sp>
        <p:nvSpPr>
          <p:cNvPr id="287" name="Google Shape;287;p42"/>
          <p:cNvSpPr txBox="1"/>
          <p:nvPr>
            <p:ph idx="4294967295" type="body"/>
          </p:nvPr>
        </p:nvSpPr>
        <p:spPr>
          <a:xfrm>
            <a:off x="914400" y="2132856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Demonstrações contábeis do solicitante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Organizações especializadas: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Serasa Experian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SPC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Associações comerciais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Publicações especializadas em indicadores padrão: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Melhores e Maiores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Valor financeiro, etc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Modelos Quantitativos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Política de Cobrança</a:t>
            </a:r>
            <a:endParaRPr/>
          </a:p>
        </p:txBody>
      </p:sp>
      <p:sp>
        <p:nvSpPr>
          <p:cNvPr id="293" name="Google Shape;293;p4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Acompanhamento das contas a receber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Importância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Prazo médio de recebimento e ciclo de caixa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Quadro de idades (“aging”)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Exemplo a seguir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/>
              <a:t>Exemplo Simples - Quadro de Idades (</a:t>
            </a:r>
            <a:r>
              <a:rPr i="1" lang="pt-BR" sz="3600"/>
              <a:t>“aging”</a:t>
            </a:r>
            <a:r>
              <a:rPr lang="pt-BR" sz="3600"/>
              <a:t>)</a:t>
            </a:r>
            <a:endParaRPr/>
          </a:p>
        </p:txBody>
      </p:sp>
      <p:pic>
        <p:nvPicPr>
          <p:cNvPr id="299" name="Google Shape;29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2924175"/>
            <a:ext cx="676910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>
            <p:ph type="title"/>
          </p:nvPr>
        </p:nvSpPr>
        <p:spPr>
          <a:xfrm>
            <a:off x="395288" y="69215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 detalhado</a:t>
            </a:r>
            <a:endParaRPr/>
          </a:p>
        </p:txBody>
      </p:sp>
      <p:pic>
        <p:nvPicPr>
          <p:cNvPr id="305" name="Google Shape;30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813" y="1773238"/>
            <a:ext cx="5111750" cy="4865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