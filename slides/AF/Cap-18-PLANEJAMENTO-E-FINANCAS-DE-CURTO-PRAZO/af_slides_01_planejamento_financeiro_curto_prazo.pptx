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2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2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2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8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0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 txBox="1"/>
          <p:nvPr>
            <p:ph type="ctrTitle"/>
          </p:nvPr>
        </p:nvSpPr>
        <p:spPr>
          <a:xfrm>
            <a:off x="713781" y="1967246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Administração Financeira</a:t>
            </a:r>
            <a:endParaRPr/>
          </a:p>
        </p:txBody>
      </p:sp>
      <p:sp>
        <p:nvSpPr>
          <p:cNvPr id="89" name="Google Shape;89;p13"/>
          <p:cNvSpPr txBox="1"/>
          <p:nvPr>
            <p:ph idx="1" type="subTitle"/>
          </p:nvPr>
        </p:nvSpPr>
        <p:spPr>
          <a:xfrm>
            <a:off x="1115617" y="3861048"/>
            <a:ext cx="7370564" cy="19773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pt-BR"/>
              <a:t>Marcelo Perlin</a:t>
            </a:r>
            <a:endParaRPr/>
          </a:p>
          <a:p>
            <a:pPr indent="0" lvl="0" marL="0" rtl="0" algn="l">
              <a:spcBef>
                <a:spcPts val="573"/>
              </a:spcBef>
              <a:spcAft>
                <a:spcPts val="0"/>
              </a:spcAft>
              <a:buClr>
                <a:srgbClr val="888888"/>
              </a:buClr>
              <a:buSzPts val="3100"/>
              <a:buNone/>
            </a:pPr>
            <a:r>
              <a:rPr lang="pt-BR" sz="3100"/>
              <a:t>Planejamento e Adm Financeira de CP  (Cap 18 – Ross)</a:t>
            </a:r>
            <a:endParaRPr/>
          </a:p>
          <a:p>
            <a:pPr indent="0" lvl="0" marL="0" rtl="0" algn="l">
              <a:spcBef>
                <a:spcPts val="592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pt-BR"/>
              <a:t>Escola de Administração, UFRGS</a:t>
            </a:r>
            <a:endParaRPr/>
          </a:p>
        </p:txBody>
      </p:sp>
      <p:pic>
        <p:nvPicPr>
          <p:cNvPr descr="C:\Dropbox\E.A. UFRGS\Docs Diversos UFRGS\Modelos Slides E.A\Logo_UFRGS_preto.jpg" id="90" name="Google Shape;90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825" y="104499"/>
            <a:ext cx="1691675" cy="17447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Dropbox\E.A. UFRGS\Docs Diversos UFRGS\Modelos Slides E.A\LOGO_EA.jpg" id="91" name="Google Shape;91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63225" y="1687"/>
            <a:ext cx="1780775" cy="2070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Plano de Aula</a:t>
            </a:r>
            <a:endParaRPr/>
          </a:p>
        </p:txBody>
      </p:sp>
      <p:sp>
        <p:nvSpPr>
          <p:cNvPr id="97" name="Google Shape;97;p14"/>
          <p:cNvSpPr txBox="1"/>
          <p:nvPr>
            <p:ph idx="1" type="body"/>
          </p:nvPr>
        </p:nvSpPr>
        <p:spPr>
          <a:xfrm>
            <a:off x="539552" y="1556792"/>
            <a:ext cx="8229600" cy="4325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pt-BR"/>
              <a:t>Gestão do ativo circulante como um todo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pt-BR"/>
              <a:t>CGL - Medida de liquidez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pt-BR"/>
              <a:t>Ciclos do AC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5"/>
          <p:cNvSpPr/>
          <p:nvPr/>
        </p:nvSpPr>
        <p:spPr>
          <a:xfrm>
            <a:off x="1331640" y="2822511"/>
            <a:ext cx="2232248" cy="864096"/>
          </a:xfrm>
          <a:prstGeom prst="ellipse">
            <a:avLst/>
          </a:prstGeom>
          <a:noFill/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Finanças de Curto Prazo</a:t>
            </a:r>
            <a:endParaRPr/>
          </a:p>
        </p:txBody>
      </p:sp>
      <p:sp>
        <p:nvSpPr>
          <p:cNvPr id="104" name="Google Shape;104;p15"/>
          <p:cNvSpPr txBox="1"/>
          <p:nvPr>
            <p:ph idx="1" type="body"/>
          </p:nvPr>
        </p:nvSpPr>
        <p:spPr>
          <a:xfrm>
            <a:off x="1187624" y="1539236"/>
            <a:ext cx="8229600" cy="4325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pt-BR"/>
              <a:t>   Balanço Patrimonial de uma empresa</a:t>
            </a:r>
            <a:endParaRPr/>
          </a:p>
        </p:txBody>
      </p:sp>
      <p:pic>
        <p:nvPicPr>
          <p:cNvPr id="105" name="Google Shape;10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91680" y="2132856"/>
            <a:ext cx="5472608" cy="35793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A importância do AC</a:t>
            </a:r>
            <a:endParaRPr/>
          </a:p>
        </p:txBody>
      </p:sp>
      <p:sp>
        <p:nvSpPr>
          <p:cNvPr id="111" name="Google Shape;111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pt-BR"/>
              <a:t>O AC representa as atividades da empresa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pt-BR"/>
              <a:t>Compra/Venda Estoques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pt-BR"/>
              <a:t>Crédito com clientes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pt-BR"/>
              <a:t>Disponibilidades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pt-BR"/>
              <a:t>Uma administração eficiente do AC é benéfica para a empresa!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pt-BR"/>
              <a:t>Permite liquidez de curto prazo para a empresa e evita a tomada de empréstimos desnecessários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O Ativo Circulante</a:t>
            </a:r>
            <a:endParaRPr/>
          </a:p>
        </p:txBody>
      </p:sp>
      <p:sp>
        <p:nvSpPr>
          <p:cNvPr id="117" name="Google Shape;117;p1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pt-BR"/>
              <a:t>AC = Caixa + 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pt-BR"/>
              <a:t>	     Contas a receber +   	       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pt-BR"/>
              <a:t>	     Estoques 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pt-BR"/>
              <a:t>          </a:t>
            </a:r>
            <a:endParaRPr/>
          </a:p>
        </p:txBody>
      </p:sp>
      <p:sp>
        <p:nvSpPr>
          <p:cNvPr id="118" name="Google Shape;118;p17"/>
          <p:cNvSpPr/>
          <p:nvPr/>
        </p:nvSpPr>
        <p:spPr>
          <a:xfrm>
            <a:off x="5240992" y="2339588"/>
            <a:ext cx="576064" cy="1368152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7"/>
          <p:cNvSpPr txBox="1"/>
          <p:nvPr/>
        </p:nvSpPr>
        <p:spPr>
          <a:xfrm>
            <a:off x="6029280" y="2608165"/>
            <a:ext cx="2304256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Liquidez decrescente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O Impacto no Caixa</a:t>
            </a:r>
            <a:endParaRPr/>
          </a:p>
        </p:txBody>
      </p:sp>
      <p:sp>
        <p:nvSpPr>
          <p:cNvPr id="125" name="Google Shape;125;p1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pt-BR"/>
              <a:t>    AC + AnC = PC + ELP + PL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pt-BR"/>
              <a:t>AC= Caixa + Contas a Receber + Estoques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pt-BR"/>
              <a:t>Caixa = PC + ELP + PL - AnC – CR - Estoques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sp>
        <p:nvSpPr>
          <p:cNvPr id="126" name="Google Shape;126;p18"/>
          <p:cNvSpPr txBox="1"/>
          <p:nvPr/>
        </p:nvSpPr>
        <p:spPr>
          <a:xfrm>
            <a:off x="6516216" y="1428998"/>
            <a:ext cx="2232248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Relação Básica do Balanço Patrimonial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7" name="Google Shape;127;p18"/>
          <p:cNvCxnSpPr/>
          <p:nvPr/>
        </p:nvCxnSpPr>
        <p:spPr>
          <a:xfrm rot="5400000">
            <a:off x="683568" y="2204864"/>
            <a:ext cx="576064" cy="288032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28" name="Google Shape;128;p18"/>
          <p:cNvCxnSpPr/>
          <p:nvPr/>
        </p:nvCxnSpPr>
        <p:spPr>
          <a:xfrm rot="5400000">
            <a:off x="1547665" y="2204864"/>
            <a:ext cx="576064" cy="288032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29" name="Google Shape;129;p18"/>
          <p:cNvCxnSpPr/>
          <p:nvPr/>
        </p:nvCxnSpPr>
        <p:spPr>
          <a:xfrm flipH="1">
            <a:off x="2771800" y="2067361"/>
            <a:ext cx="226368" cy="648073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30" name="Google Shape;130;p18"/>
          <p:cNvSpPr txBox="1"/>
          <p:nvPr/>
        </p:nvSpPr>
        <p:spPr>
          <a:xfrm>
            <a:off x="50344" y="2714494"/>
            <a:ext cx="12596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Ativo Circ.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8"/>
          <p:cNvSpPr txBox="1"/>
          <p:nvPr/>
        </p:nvSpPr>
        <p:spPr>
          <a:xfrm>
            <a:off x="1115616" y="2715434"/>
            <a:ext cx="1224136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Ativo não circulante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8"/>
          <p:cNvSpPr txBox="1"/>
          <p:nvPr/>
        </p:nvSpPr>
        <p:spPr>
          <a:xfrm>
            <a:off x="2339752" y="2760660"/>
            <a:ext cx="108012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Passivo Circ.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8"/>
          <p:cNvSpPr txBox="1"/>
          <p:nvPr/>
        </p:nvSpPr>
        <p:spPr>
          <a:xfrm>
            <a:off x="3275856" y="2783250"/>
            <a:ext cx="1080120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Exigível a Longo Prazo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4" name="Google Shape;134;p18"/>
          <p:cNvCxnSpPr/>
          <p:nvPr/>
        </p:nvCxnSpPr>
        <p:spPr>
          <a:xfrm flipH="1">
            <a:off x="3593685" y="2067361"/>
            <a:ext cx="258235" cy="647133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35" name="Google Shape;135;p18"/>
          <p:cNvSpPr txBox="1"/>
          <p:nvPr/>
        </p:nvSpPr>
        <p:spPr>
          <a:xfrm>
            <a:off x="4535996" y="2787442"/>
            <a:ext cx="1368152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Patrimônio Líquido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6" name="Google Shape;136;p18"/>
          <p:cNvCxnSpPr/>
          <p:nvPr/>
        </p:nvCxnSpPr>
        <p:spPr>
          <a:xfrm>
            <a:off x="4798369" y="2067361"/>
            <a:ext cx="311907" cy="720081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37" name="Google Shape;137;p18"/>
          <p:cNvSpPr/>
          <p:nvPr/>
        </p:nvSpPr>
        <p:spPr>
          <a:xfrm>
            <a:off x="5580112" y="1707322"/>
            <a:ext cx="648072" cy="36004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Como Aumentar o Caixa?</a:t>
            </a:r>
            <a:endParaRPr/>
          </a:p>
        </p:txBody>
      </p:sp>
      <p:sp>
        <p:nvSpPr>
          <p:cNvPr id="143" name="Google Shape;143;p1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15494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/>
              <a:t>    Caixa = PC + ELP + PL –AnC - CR- Estoques</a:t>
            </a:r>
            <a:endParaRPr/>
          </a:p>
          <a:p>
            <a:pPr indent="-15494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pt-BR"/>
              <a:t>PC -&gt; Obtenção de empréstimo a curto prazo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pt-BR"/>
              <a:t>ELP -&gt; Obtenção de empréstimo a longo prazo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pt-BR"/>
              <a:t>PL - Lançamento de novas ações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pt-BR"/>
              <a:t>AnC - Venda de ativos permanentes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pt-BR"/>
              <a:t>CR - Reformulação da política de crédito para os clientes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pt-BR"/>
              <a:t>Estoques - Vendas de mercadoria à vista</a:t>
            </a:r>
            <a:endParaRPr/>
          </a:p>
        </p:txBody>
      </p:sp>
      <p:sp>
        <p:nvSpPr>
          <p:cNvPr id="144" name="Google Shape;144;p19"/>
          <p:cNvSpPr/>
          <p:nvPr/>
        </p:nvSpPr>
        <p:spPr>
          <a:xfrm>
            <a:off x="1115616" y="2426412"/>
            <a:ext cx="360040" cy="36004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9"/>
          <p:cNvSpPr/>
          <p:nvPr/>
        </p:nvSpPr>
        <p:spPr>
          <a:xfrm>
            <a:off x="2123728" y="2426412"/>
            <a:ext cx="360040" cy="36004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9"/>
          <p:cNvSpPr/>
          <p:nvPr/>
        </p:nvSpPr>
        <p:spPr>
          <a:xfrm>
            <a:off x="2987824" y="2426412"/>
            <a:ext cx="360040" cy="36004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9"/>
          <p:cNvSpPr/>
          <p:nvPr/>
        </p:nvSpPr>
        <p:spPr>
          <a:xfrm>
            <a:off x="3707904" y="2455952"/>
            <a:ext cx="360040" cy="36004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9"/>
          <p:cNvSpPr/>
          <p:nvPr/>
        </p:nvSpPr>
        <p:spPr>
          <a:xfrm>
            <a:off x="5281052" y="2426412"/>
            <a:ext cx="360040" cy="432048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/>
          <p:cNvSpPr/>
          <p:nvPr/>
        </p:nvSpPr>
        <p:spPr>
          <a:xfrm>
            <a:off x="6257449" y="2419948"/>
            <a:ext cx="360040" cy="432048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9"/>
          <p:cNvSpPr/>
          <p:nvPr/>
        </p:nvSpPr>
        <p:spPr>
          <a:xfrm>
            <a:off x="4442616" y="2419948"/>
            <a:ext cx="360040" cy="432048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Como Diminuir o Caixa?</a:t>
            </a:r>
            <a:endParaRPr/>
          </a:p>
        </p:txBody>
      </p:sp>
      <p:sp>
        <p:nvSpPr>
          <p:cNvPr id="156" name="Google Shape;156;p2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17018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/>
              <a:t>     Caixa = PC + ELP + PL –AnC - CR- Estoques</a:t>
            </a:r>
            <a:endParaRPr/>
          </a:p>
          <a:p>
            <a:pPr indent="-17018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17018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pt-BR"/>
              <a:t>PC - ??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pt-BR"/>
              <a:t>ELP - ??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pt-BR"/>
              <a:t>PL - ??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pt-BR"/>
              <a:t>AnC - ??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pt-BR"/>
              <a:t>CR - ??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pt-BR"/>
              <a:t>Estoque - ??</a:t>
            </a:r>
            <a:endParaRPr/>
          </a:p>
        </p:txBody>
      </p:sp>
      <p:sp>
        <p:nvSpPr>
          <p:cNvPr id="157" name="Google Shape;157;p20"/>
          <p:cNvSpPr/>
          <p:nvPr/>
        </p:nvSpPr>
        <p:spPr>
          <a:xfrm>
            <a:off x="1097124" y="2411760"/>
            <a:ext cx="360040" cy="432048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20"/>
          <p:cNvSpPr/>
          <p:nvPr/>
        </p:nvSpPr>
        <p:spPr>
          <a:xfrm>
            <a:off x="2085140" y="2435776"/>
            <a:ext cx="360040" cy="432048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20"/>
          <p:cNvSpPr/>
          <p:nvPr/>
        </p:nvSpPr>
        <p:spPr>
          <a:xfrm>
            <a:off x="2789312" y="2418852"/>
            <a:ext cx="360040" cy="432048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20"/>
          <p:cNvSpPr/>
          <p:nvPr/>
        </p:nvSpPr>
        <p:spPr>
          <a:xfrm>
            <a:off x="3447844" y="2418852"/>
            <a:ext cx="360040" cy="432048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20"/>
          <p:cNvSpPr/>
          <p:nvPr/>
        </p:nvSpPr>
        <p:spPr>
          <a:xfrm rot="10800000">
            <a:off x="4164102" y="2396148"/>
            <a:ext cx="395536" cy="445016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20"/>
          <p:cNvSpPr/>
          <p:nvPr/>
        </p:nvSpPr>
        <p:spPr>
          <a:xfrm rot="10800000">
            <a:off x="4850628" y="2396148"/>
            <a:ext cx="395536" cy="445016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20"/>
          <p:cNvSpPr/>
          <p:nvPr/>
        </p:nvSpPr>
        <p:spPr>
          <a:xfrm rot="10800000">
            <a:off x="5706928" y="2412369"/>
            <a:ext cx="395536" cy="445016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pt-BR"/>
              <a:t>Capital de Giro Líquido (CGL) ou Capital Circulante Líquido (CCL)</a:t>
            </a:r>
            <a:endParaRPr/>
          </a:p>
        </p:txBody>
      </p:sp>
      <p:sp>
        <p:nvSpPr>
          <p:cNvPr id="169" name="Google Shape;169;p2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pt-BR"/>
              <a:t>O CGL mede o valor líquido dos investimentos  realizados no ativo circulante da empresa, deduzidos das dívidas de curto prazo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sp>
        <p:nvSpPr>
          <p:cNvPr id="170" name="Google Shape;170;p21"/>
          <p:cNvSpPr txBox="1"/>
          <p:nvPr/>
        </p:nvSpPr>
        <p:spPr>
          <a:xfrm>
            <a:off x="611560" y="4437112"/>
            <a:ext cx="7704900" cy="23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CGL &gt;0  Folga na liquidez da empresa. Recursos de longo prazo  e patrimônio líquido estão financiando o ativo circulante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CGL &lt;0  Aperto na liquidez da empresa. O passivo circulante está financiando totalmente o ativo circulante e também uma parte dos investimentos em ativo permanente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21"/>
          <p:cNvSpPr txBox="1"/>
          <p:nvPr/>
        </p:nvSpPr>
        <p:spPr>
          <a:xfrm>
            <a:off x="899592" y="3617784"/>
            <a:ext cx="6192688" cy="40011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CGL = Ativo Circulante – Passivo Circulante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Ilustração CGL</a:t>
            </a:r>
            <a:endParaRPr/>
          </a:p>
        </p:txBody>
      </p:sp>
      <p:pic>
        <p:nvPicPr>
          <p:cNvPr id="177" name="Google Shape;17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9552" y="1844824"/>
            <a:ext cx="3398427" cy="32403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55976" y="1844824"/>
            <a:ext cx="3813350" cy="32403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Implicações do CGL</a:t>
            </a:r>
            <a:endParaRPr/>
          </a:p>
        </p:txBody>
      </p:sp>
      <p:sp>
        <p:nvSpPr>
          <p:cNvPr id="184" name="Google Shape;184;p2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pt-BR"/>
              <a:t>CGL &gt; 0 (AC &gt; PC)</a:t>
            </a:r>
            <a:endParaRPr/>
          </a:p>
          <a:p>
            <a:pPr indent="-285750" lvl="1" marL="742950" rtl="0" algn="l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pt-BR"/>
              <a:t>O Ativo circulante é financiado por PnC (ELP) e/ou PL</a:t>
            </a:r>
            <a:endParaRPr/>
          </a:p>
          <a:p>
            <a:pPr indent="-285750" lvl="1" marL="742950" rtl="0" algn="l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pt-BR"/>
              <a:t>Situação de liquidez boa: AC gera capital no curto prazo, pagando dívidas no longo prazo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pt-BR"/>
              <a:t>CGL &lt; 0 (AC&lt;PC)</a:t>
            </a:r>
            <a:endParaRPr/>
          </a:p>
          <a:p>
            <a:pPr indent="-285750" lvl="1" marL="742950" rtl="0" algn="l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pt-BR"/>
              <a:t>O passivo circulante está financiando ativo permanente</a:t>
            </a:r>
            <a:endParaRPr/>
          </a:p>
          <a:p>
            <a:pPr indent="-285750" lvl="1" marL="742950" rtl="0" algn="l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pt-BR"/>
              <a:t>Situação de liquidez ruim: AP gera capital no longo prazo, porém dívidas (juros) são pagos no curto prazo (pode faltar capital!)</a:t>
            </a:r>
            <a:endParaRPr/>
          </a:p>
          <a:p>
            <a:pPr indent="-15494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15494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Fatores que Afetam o CGL (ou CCL)</a:t>
            </a:r>
            <a:endParaRPr/>
          </a:p>
        </p:txBody>
      </p:sp>
      <p:sp>
        <p:nvSpPr>
          <p:cNvPr id="190" name="Google Shape;190;p24"/>
          <p:cNvSpPr txBox="1"/>
          <p:nvPr>
            <p:ph idx="1" type="body"/>
          </p:nvPr>
        </p:nvSpPr>
        <p:spPr>
          <a:xfrm>
            <a:off x="457200" y="2060848"/>
            <a:ext cx="8229600" cy="4637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10000"/>
          </a:bodyPr>
          <a:lstStyle/>
          <a:p>
            <a:pPr indent="-17018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pt-BR"/>
              <a:t>Aumentam o CGL</a:t>
            </a:r>
            <a:endParaRPr/>
          </a:p>
          <a:p>
            <a:pPr indent="-285750" lvl="1" marL="742950" rtl="0" algn="l">
              <a:spcBef>
                <a:spcPts val="47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pt-BR"/>
              <a:t>Novos empréstimos e financiamentos de longo prazo</a:t>
            </a:r>
            <a:endParaRPr/>
          </a:p>
          <a:p>
            <a:pPr indent="-285750" lvl="1" marL="742950" rtl="0" algn="l">
              <a:spcBef>
                <a:spcPts val="47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pt-BR"/>
              <a:t>Geração de lucro líquido</a:t>
            </a:r>
            <a:endParaRPr/>
          </a:p>
          <a:p>
            <a:pPr indent="-285750" lvl="1" marL="742950" rtl="0" algn="l">
              <a:spcBef>
                <a:spcPts val="47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pt-BR"/>
              <a:t>Vendas de ativos permanentes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pt-BR"/>
              <a:t>Reduzem o CGL</a:t>
            </a:r>
            <a:endParaRPr/>
          </a:p>
          <a:p>
            <a:pPr indent="-285750" lvl="1" marL="742950" rtl="0" algn="l">
              <a:spcBef>
                <a:spcPts val="47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pt-BR"/>
              <a:t>Redução do patrimônio líquido, por exemplo através da ocorrência de prejuízos e pagamentos de dividendos</a:t>
            </a:r>
            <a:endParaRPr/>
          </a:p>
          <a:p>
            <a:pPr indent="-285750" lvl="1" marL="742950" rtl="0" algn="l">
              <a:spcBef>
                <a:spcPts val="47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pt-BR"/>
              <a:t>Aumento do ativos permanentes com pagamentos à vista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pt-BR"/>
              <a:t>Não modificam o CGL</a:t>
            </a:r>
            <a:endParaRPr/>
          </a:p>
          <a:p>
            <a:pPr indent="-285750" lvl="1" marL="742950" rtl="0" algn="l">
              <a:spcBef>
                <a:spcPts val="47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pt-BR"/>
              <a:t>???</a:t>
            </a:r>
            <a:endParaRPr/>
          </a:p>
        </p:txBody>
      </p:sp>
      <p:sp>
        <p:nvSpPr>
          <p:cNvPr id="191" name="Google Shape;191;p24"/>
          <p:cNvSpPr txBox="1"/>
          <p:nvPr/>
        </p:nvSpPr>
        <p:spPr>
          <a:xfrm>
            <a:off x="899592" y="1629961"/>
            <a:ext cx="6624736" cy="8617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CCL= ELP + PL- AnC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Administração do CCL</a:t>
            </a:r>
            <a:endParaRPr/>
          </a:p>
        </p:txBody>
      </p:sp>
      <p:sp>
        <p:nvSpPr>
          <p:cNvPr id="197" name="Google Shape;197;p2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pt-BR"/>
              <a:t>Para a definição de uma política ótima de financiamento do CCL é necessário:</a:t>
            </a:r>
            <a:endParaRPr/>
          </a:p>
          <a:p>
            <a:pPr indent="-285750" lvl="1" marL="742950" rtl="0" algn="l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pt-BR"/>
              <a:t>Estimar a variação da necessidade de capital de giro (NCG)</a:t>
            </a:r>
            <a:endParaRPr/>
          </a:p>
          <a:p>
            <a:pPr indent="-285750" lvl="1" marL="742950" rtl="0" algn="l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pt-BR"/>
              <a:t>Ter um plano de formação de capital de giro para sustentar as operações</a:t>
            </a:r>
            <a:endParaRPr/>
          </a:p>
          <a:p>
            <a:pPr indent="-285750" lvl="1" marL="742950" rtl="0" algn="l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pt-BR"/>
              <a:t>Estimar a evolução da diferença entre NCG-CDG e ponderá-la pela evolução do nível de vendas</a:t>
            </a:r>
            <a:endParaRPr/>
          </a:p>
          <a:p>
            <a:pPr indent="-285750" lvl="1" marL="742950" rtl="0" algn="l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pt-BR"/>
              <a:t>Ter uma política de captação de recursos e pagamento de proventos que seja adequada a realidade de curto prazo da empresa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pt-BR"/>
              <a:t>Capital de Giro e Capital Circulante Líquido</a:t>
            </a:r>
            <a:endParaRPr/>
          </a:p>
        </p:txBody>
      </p:sp>
      <p:sp>
        <p:nvSpPr>
          <p:cNvPr id="203" name="Google Shape;203;p2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pt-BR"/>
              <a:t>Matematicamente: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pt-BR"/>
              <a:t>Porém, conceitualmente, CDG e CCL não são  equivalentes.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pt-BR"/>
              <a:t>A diferença está em qual lado do balanço eles estão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pt-BR"/>
              <a:t>CCL é aplicação de recursos e CDG é origem dos recursos</a:t>
            </a:r>
            <a:endParaRPr/>
          </a:p>
        </p:txBody>
      </p:sp>
      <p:sp>
        <p:nvSpPr>
          <p:cNvPr id="204" name="Google Shape;204;p26"/>
          <p:cNvSpPr txBox="1"/>
          <p:nvPr/>
        </p:nvSpPr>
        <p:spPr>
          <a:xfrm>
            <a:off x="2843808" y="2348880"/>
            <a:ext cx="2736304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CDG = CCL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Ilustração CCL e CDG (Ross pg 625)</a:t>
            </a:r>
            <a:endParaRPr/>
          </a:p>
        </p:txBody>
      </p:sp>
      <p:pic>
        <p:nvPicPr>
          <p:cNvPr id="210" name="Google Shape;210;p2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689110"/>
            <a:ext cx="8229600" cy="43481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Ciclos de uma empresa</a:t>
            </a:r>
            <a:endParaRPr/>
          </a:p>
        </p:txBody>
      </p:sp>
      <p:sp>
        <p:nvSpPr>
          <p:cNvPr id="216" name="Google Shape;216;p28"/>
          <p:cNvSpPr txBox="1"/>
          <p:nvPr>
            <p:ph idx="1" type="body"/>
          </p:nvPr>
        </p:nvSpPr>
        <p:spPr>
          <a:xfrm>
            <a:off x="395536" y="1700808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pt-BR"/>
              <a:t>As atividades de uma empresa formam um ciclo (dinâmica do AC)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pt-BR"/>
              <a:t>Tempo entre compra (e pagamento) da matéria prima para fabricação dos produtos até a venda e recebimento de dinheiro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pt-BR"/>
              <a:t>Os ciclos de uma empresa definem o tempo da mutação dos valores dentro do AC</a:t>
            </a:r>
            <a:endParaRPr/>
          </a:p>
          <a:p>
            <a:pPr indent="-1079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1079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Exemplo de Ciclo</a:t>
            </a:r>
            <a:endParaRPr/>
          </a:p>
        </p:txBody>
      </p:sp>
      <p:pic>
        <p:nvPicPr>
          <p:cNvPr id="222" name="Google Shape;222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3568" y="1484784"/>
            <a:ext cx="7704856" cy="44392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Definição dos Ciclos</a:t>
            </a:r>
            <a:endParaRPr/>
          </a:p>
        </p:txBody>
      </p:sp>
      <p:sp>
        <p:nvSpPr>
          <p:cNvPr id="228" name="Google Shape;228;p3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pt-BR"/>
              <a:t>Ciclo Operacional: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pt-BR"/>
              <a:t>Representa o ciclo completo, desde a compra da matéria prima até o recebimento das vendas dos produtos.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pt-BR"/>
              <a:t>Descreve como o capital se move entre as contas do ativo circulante</a:t>
            </a:r>
            <a:endParaRPr/>
          </a:p>
          <a:p>
            <a:pPr indent="-1079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1079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1079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1079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229" name="Google Shape;229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9552" y="5013176"/>
            <a:ext cx="7912100" cy="4318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Definição dos Ciclos</a:t>
            </a:r>
            <a:endParaRPr/>
          </a:p>
        </p:txBody>
      </p:sp>
      <p:sp>
        <p:nvSpPr>
          <p:cNvPr id="235" name="Google Shape;235;p3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pt-BR"/>
              <a:t>Ciclo de Caixa (ou financeiro)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pt-BR"/>
              <a:t>Representa o ciclo financeiro da empresa, isto é, o tempo entre a saída de capital e a entrada.			</a:t>
            </a:r>
            <a:endParaRPr/>
          </a:p>
          <a:p>
            <a:pPr indent="-1079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236" name="Google Shape;236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6241" y="3501008"/>
            <a:ext cx="7750175" cy="917575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pic>
      <p:pic>
        <p:nvPicPr>
          <p:cNvPr id="237" name="Google Shape;237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9552" y="4725144"/>
            <a:ext cx="7183438" cy="917575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Representação Gráfica</a:t>
            </a:r>
            <a:endParaRPr/>
          </a:p>
        </p:txBody>
      </p:sp>
      <p:pic>
        <p:nvPicPr>
          <p:cNvPr id="243" name="Google Shape;243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59632" y="1436360"/>
            <a:ext cx="6696744" cy="52356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Exemplo:</a:t>
            </a:r>
            <a:endParaRPr/>
          </a:p>
        </p:txBody>
      </p:sp>
      <p:sp>
        <p:nvSpPr>
          <p:cNvPr id="249" name="Google Shape;249;p33"/>
          <p:cNvSpPr txBox="1"/>
          <p:nvPr/>
        </p:nvSpPr>
        <p:spPr>
          <a:xfrm>
            <a:off x="462256" y="3645024"/>
            <a:ext cx="7200800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Ciclo Operacional </a:t>
            </a: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 Per. Estoque + Per. Contas a receber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Ciclo Operacional </a:t>
            </a: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 46  + (77-46)  = 77 dias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Ciclo de Caixa </a:t>
            </a: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 Per. Estoque + Per. Contas a receber – Prazo para pagar fornecedores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Ciclo de Caixa </a:t>
            </a: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 46 + (77 – 46) – (31 – 0) = 46 dias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0" name="Google Shape;250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5008" y="1484784"/>
            <a:ext cx="8339836" cy="18722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Como reduzir o ciclo financeiro</a:t>
            </a:r>
            <a:endParaRPr/>
          </a:p>
        </p:txBody>
      </p:sp>
      <p:sp>
        <p:nvSpPr>
          <p:cNvPr id="256" name="Google Shape;256;p34"/>
          <p:cNvSpPr txBox="1"/>
          <p:nvPr>
            <p:ph idx="1" type="body"/>
          </p:nvPr>
        </p:nvSpPr>
        <p:spPr>
          <a:xfrm>
            <a:off x="402940" y="2996952"/>
            <a:ext cx="8229600" cy="31009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pt-BR"/>
              <a:t>PME - Reduzir investimentos em estoques (desde que não ocasione perdas de vendas ou atrasos)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pt-BR"/>
              <a:t>PMCR - Reduzir prazo de contas a receber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pt-BR"/>
              <a:t>PMPF - Negociar maiores prazos de pagamentos ao fornecedores</a:t>
            </a:r>
            <a:endParaRPr/>
          </a:p>
        </p:txBody>
      </p:sp>
      <p:grpSp>
        <p:nvGrpSpPr>
          <p:cNvPr id="257" name="Google Shape;257;p34"/>
          <p:cNvGrpSpPr/>
          <p:nvPr/>
        </p:nvGrpSpPr>
        <p:grpSpPr>
          <a:xfrm>
            <a:off x="467544" y="1502989"/>
            <a:ext cx="8676456" cy="954107"/>
            <a:chOff x="755576" y="2378976"/>
            <a:chExt cx="8676456" cy="954107"/>
          </a:xfrm>
        </p:grpSpPr>
        <p:sp>
          <p:nvSpPr>
            <p:cNvPr id="258" name="Google Shape;258;p34"/>
            <p:cNvSpPr txBox="1"/>
            <p:nvPr/>
          </p:nvSpPr>
          <p:spPr>
            <a:xfrm>
              <a:off x="755576" y="2378976"/>
              <a:ext cx="8676456" cy="9541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Ciclo Fin. = PME + PMCR - PMPF</a:t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9" name="Google Shape;259;p34"/>
            <p:cNvSpPr/>
            <p:nvPr/>
          </p:nvSpPr>
          <p:spPr>
            <a:xfrm>
              <a:off x="1115616" y="2924944"/>
              <a:ext cx="288032" cy="360040"/>
            </a:xfrm>
            <a:prstGeom prst="downArrow">
              <a:avLst>
                <a:gd fmla="val 50000" name="adj1"/>
                <a:gd fmla="val 50000" name="adj2"/>
              </a:avLst>
            </a:prstGeom>
            <a:solidFill>
              <a:schemeClr val="accent1"/>
            </a:solidFill>
            <a:ln cap="flat" cmpd="sng" w="25400">
              <a:solidFill>
                <a:srgbClr val="395E8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0" name="Google Shape;260;p34"/>
            <p:cNvSpPr/>
            <p:nvPr/>
          </p:nvSpPr>
          <p:spPr>
            <a:xfrm>
              <a:off x="2699792" y="2924944"/>
              <a:ext cx="288032" cy="360040"/>
            </a:xfrm>
            <a:prstGeom prst="downArrow">
              <a:avLst>
                <a:gd fmla="val 50000" name="adj1"/>
                <a:gd fmla="val 50000" name="adj2"/>
              </a:avLst>
            </a:prstGeom>
            <a:solidFill>
              <a:schemeClr val="accent1"/>
            </a:solidFill>
            <a:ln cap="flat" cmpd="sng" w="25400">
              <a:solidFill>
                <a:srgbClr val="395E8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1" name="Google Shape;261;p34"/>
            <p:cNvSpPr/>
            <p:nvPr/>
          </p:nvSpPr>
          <p:spPr>
            <a:xfrm>
              <a:off x="3491880" y="2894660"/>
              <a:ext cx="288032" cy="360040"/>
            </a:xfrm>
            <a:prstGeom prst="downArrow">
              <a:avLst>
                <a:gd fmla="val 50000" name="adj1"/>
                <a:gd fmla="val 50000" name="adj2"/>
              </a:avLst>
            </a:prstGeom>
            <a:solidFill>
              <a:schemeClr val="accent1"/>
            </a:solidFill>
            <a:ln cap="flat" cmpd="sng" w="25400">
              <a:solidFill>
                <a:srgbClr val="395E8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2" name="Google Shape;262;p34"/>
            <p:cNvSpPr/>
            <p:nvPr/>
          </p:nvSpPr>
          <p:spPr>
            <a:xfrm>
              <a:off x="4805772" y="2852936"/>
              <a:ext cx="288032" cy="360040"/>
            </a:xfrm>
            <a:prstGeom prst="upArrow">
              <a:avLst>
                <a:gd fmla="val 50000" name="adj1"/>
                <a:gd fmla="val 50000" name="adj2"/>
              </a:avLst>
            </a:prstGeom>
            <a:solidFill>
              <a:schemeClr val="accent1"/>
            </a:solidFill>
            <a:ln cap="flat" cmpd="sng" w="25400">
              <a:solidFill>
                <a:srgbClr val="395E8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pt-BR"/>
              <a:t>O Ciclo Operacional e o Organograma da Empresa (Ross pag. 629)</a:t>
            </a:r>
            <a:endParaRPr/>
          </a:p>
        </p:txBody>
      </p:sp>
      <p:pic>
        <p:nvPicPr>
          <p:cNvPr id="268" name="Google Shape;268;p3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2814" y="1628800"/>
            <a:ext cx="7698371" cy="51432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pt-BR"/>
              <a:t>Cálculos dos Ciclos com base em DFs</a:t>
            </a:r>
            <a:endParaRPr/>
          </a:p>
        </p:txBody>
      </p:sp>
      <p:grpSp>
        <p:nvGrpSpPr>
          <p:cNvPr id="274" name="Google Shape;274;p36"/>
          <p:cNvGrpSpPr/>
          <p:nvPr/>
        </p:nvGrpSpPr>
        <p:grpSpPr>
          <a:xfrm>
            <a:off x="611560" y="1412776"/>
            <a:ext cx="7704856" cy="1292662"/>
            <a:chOff x="611560" y="1412776"/>
            <a:chExt cx="7704856" cy="1292662"/>
          </a:xfrm>
        </p:grpSpPr>
        <p:sp>
          <p:nvSpPr>
            <p:cNvPr id="275" name="Google Shape;275;p36"/>
            <p:cNvSpPr txBox="1"/>
            <p:nvPr/>
          </p:nvSpPr>
          <p:spPr>
            <a:xfrm>
              <a:off x="611560" y="1412776"/>
              <a:ext cx="7704856" cy="461665"/>
            </a:xfrm>
            <a:prstGeom prst="rect">
              <a:avLst/>
            </a:prstGeom>
            <a:noFill/>
            <a:ln cap="flat" cmpd="sng" w="28575">
              <a:solidFill>
                <a:srgbClr val="395E8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Período de estocagem= 365/Giro Estoques</a:t>
              </a:r>
              <a:endParaRPr/>
            </a:p>
          </p:txBody>
        </p:sp>
        <p:sp>
          <p:nvSpPr>
            <p:cNvPr id="276" name="Google Shape;276;p36"/>
            <p:cNvSpPr txBox="1"/>
            <p:nvPr/>
          </p:nvSpPr>
          <p:spPr>
            <a:xfrm>
              <a:off x="611560" y="1874441"/>
              <a:ext cx="7704856" cy="830997"/>
            </a:xfrm>
            <a:prstGeom prst="rect">
              <a:avLst/>
            </a:prstGeom>
            <a:noFill/>
            <a:ln cap="flat" cmpd="sng" w="28575">
              <a:solidFill>
                <a:srgbClr val="395E8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rPr lang="pt-BR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Giro dos estoques = Custo da Mercadoria Vendida/ 		                          estoque médio</a:t>
              </a:r>
              <a:endParaRPr/>
            </a:p>
          </p:txBody>
        </p:sp>
      </p:grpSp>
      <p:grpSp>
        <p:nvGrpSpPr>
          <p:cNvPr id="277" name="Google Shape;277;p36"/>
          <p:cNvGrpSpPr/>
          <p:nvPr/>
        </p:nvGrpSpPr>
        <p:grpSpPr>
          <a:xfrm>
            <a:off x="582296" y="3002338"/>
            <a:ext cx="8208912" cy="1292663"/>
            <a:chOff x="611992" y="3187004"/>
            <a:chExt cx="8208912" cy="1292663"/>
          </a:xfrm>
        </p:grpSpPr>
        <p:sp>
          <p:nvSpPr>
            <p:cNvPr id="278" name="Google Shape;278;p36"/>
            <p:cNvSpPr txBox="1"/>
            <p:nvPr/>
          </p:nvSpPr>
          <p:spPr>
            <a:xfrm>
              <a:off x="611992" y="3187004"/>
              <a:ext cx="8208912" cy="461665"/>
            </a:xfrm>
            <a:prstGeom prst="rect">
              <a:avLst/>
            </a:prstGeom>
            <a:noFill/>
            <a:ln cap="flat" cmpd="sng" w="28575">
              <a:solidFill>
                <a:srgbClr val="395E8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Período de contas a receber= 365/Giro de contas a receber</a:t>
              </a:r>
              <a:endParaRPr/>
            </a:p>
          </p:txBody>
        </p:sp>
        <p:sp>
          <p:nvSpPr>
            <p:cNvPr id="279" name="Google Shape;279;p36"/>
            <p:cNvSpPr txBox="1"/>
            <p:nvPr/>
          </p:nvSpPr>
          <p:spPr>
            <a:xfrm>
              <a:off x="611992" y="3648670"/>
              <a:ext cx="8208912" cy="830997"/>
            </a:xfrm>
            <a:prstGeom prst="rect">
              <a:avLst/>
            </a:prstGeom>
            <a:noFill/>
            <a:ln cap="flat" cmpd="sng" w="28575">
              <a:solidFill>
                <a:srgbClr val="395E8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rPr lang="pt-BR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Giro de contas a receber = Total vendas a prazo/ Saldo 				médio de contas a receber</a:t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0" name="Google Shape;280;p36"/>
          <p:cNvGrpSpPr/>
          <p:nvPr/>
        </p:nvGrpSpPr>
        <p:grpSpPr>
          <a:xfrm>
            <a:off x="582296" y="4688423"/>
            <a:ext cx="7704856" cy="1292662"/>
            <a:chOff x="467544" y="3903439"/>
            <a:chExt cx="7704856" cy="1292662"/>
          </a:xfrm>
        </p:grpSpPr>
        <p:sp>
          <p:nvSpPr>
            <p:cNvPr id="281" name="Google Shape;281;p36"/>
            <p:cNvSpPr txBox="1"/>
            <p:nvPr/>
          </p:nvSpPr>
          <p:spPr>
            <a:xfrm>
              <a:off x="467544" y="3903439"/>
              <a:ext cx="7704856" cy="461665"/>
            </a:xfrm>
            <a:prstGeom prst="rect">
              <a:avLst/>
            </a:prstGeom>
            <a:noFill/>
            <a:ln cap="flat" cmpd="sng" w="28575">
              <a:solidFill>
                <a:srgbClr val="395E8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Período de contas a pagar= 365/Giro de contas a pagar</a:t>
              </a:r>
              <a:endParaRPr/>
            </a:p>
          </p:txBody>
        </p:sp>
        <p:sp>
          <p:nvSpPr>
            <p:cNvPr id="282" name="Google Shape;282;p36"/>
            <p:cNvSpPr txBox="1"/>
            <p:nvPr/>
          </p:nvSpPr>
          <p:spPr>
            <a:xfrm>
              <a:off x="467544" y="4365104"/>
              <a:ext cx="7704856" cy="830997"/>
            </a:xfrm>
            <a:prstGeom prst="rect">
              <a:avLst/>
            </a:prstGeom>
            <a:noFill/>
            <a:ln cap="flat" cmpd="sng" w="28575">
              <a:solidFill>
                <a:srgbClr val="395E8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rPr lang="pt-BR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Giro de contas a pagar = Custo da Mercadoria Vendida/ 			       Saldo médio de contas a pagar</a:t>
              </a:r>
              <a:endParaRPr/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37"/>
          <p:cNvSpPr txBox="1"/>
          <p:nvPr>
            <p:ph type="title"/>
          </p:nvPr>
        </p:nvSpPr>
        <p:spPr>
          <a:xfrm>
            <a:off x="395536" y="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Exemplo Cálculo de Ciclos:</a:t>
            </a:r>
            <a:endParaRPr/>
          </a:p>
        </p:txBody>
      </p:sp>
      <p:pic>
        <p:nvPicPr>
          <p:cNvPr id="288" name="Google Shape;288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7581" y="3861048"/>
            <a:ext cx="6048673" cy="28886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7584" y="908720"/>
            <a:ext cx="6840760" cy="27510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pt-BR"/>
              <a:t>Ciclo Operacional e Financeiro para algumas Empresas Brasileiras </a:t>
            </a:r>
            <a:endParaRPr/>
          </a:p>
        </p:txBody>
      </p:sp>
      <p:pic>
        <p:nvPicPr>
          <p:cNvPr id="295" name="Google Shape;295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1560" y="2204864"/>
            <a:ext cx="7657000" cy="28803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